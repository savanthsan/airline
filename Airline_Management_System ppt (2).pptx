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73" r:id="rId9"/>
    <p:sldId id="261" r:id="rId10"/>
    <p:sldId id="274" r:id="rId11"/>
    <p:sldId id="275" r:id="rId12"/>
    <p:sldId id="276" r:id="rId13"/>
    <p:sldId id="277" r:id="rId14"/>
    <p:sldId id="278" r:id="rId15"/>
    <p:sldId id="281" r:id="rId16"/>
    <p:sldId id="262" r:id="rId17"/>
    <p:sldId id="282" r:id="rId18"/>
    <p:sldId id="263" r:id="rId19"/>
    <p:sldId id="284" r:id="rId20"/>
    <p:sldId id="264" r:id="rId21"/>
    <p:sldId id="265" r:id="rId22"/>
    <p:sldId id="266" r:id="rId23"/>
    <p:sldId id="267" r:id="rId24"/>
    <p:sldId id="268" r:id="rId25"/>
    <p:sldId id="269" r:id="rId26"/>
    <p:sldId id="270" r:id="rId27"/>
    <p:sldId id="271" r:id="rId28"/>
    <p:sldId id="272"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864"/>
        </a:solidFill>
        <a:effectLst/>
      </p:bgPr>
    </p:bg>
    <p:spTree>
      <p:nvGrpSpPr>
        <p:cNvPr id="1" name=""/>
        <p:cNvGrpSpPr/>
        <p:nvPr/>
      </p:nvGrpSpPr>
      <p:grpSpPr>
        <a:xfrm>
          <a:off x="0" y="0"/>
          <a:ext cx="0" cy="0"/>
          <a:chOff x="0" y="0"/>
          <a:chExt cx="0" cy="0"/>
        </a:xfrm>
      </p:grpSpPr>
      <p:sp>
        <p:nvSpPr>
          <p:cNvPr id="2" name="Text 0"/>
          <p:cNvSpPr txBox="1"/>
          <p:nvPr/>
        </p:nvSpPr>
        <p:spPr>
          <a:xfrm>
            <a:off x="822960" y="1596390"/>
            <a:ext cx="10543032" cy="1097280"/>
          </a:xfrm>
          <a:prstGeom prst="rect">
            <a:avLst/>
          </a:prstGeom>
          <a:noFill/>
        </p:spPr>
        <p:txBody>
          <a:bodyPr wrap="square" lIns="0" tIns="0" rIns="0" bIns="0" rtlCol="0" anchor="ctr"/>
          <a:lstStyle/>
          <a:p>
            <a:pPr marL="0" indent="0" algn="ctr">
              <a:buNone/>
            </a:pPr>
            <a:r>
              <a:rPr lang="en-US" sz="4000" b="1" dirty="0">
                <a:solidFill>
                  <a:srgbClr val="FFFFFF"/>
                </a:solidFill>
                <a:latin typeface="Calibri" panose="020F0502020204030204" pitchFamily="34" charset="0"/>
                <a:ea typeface="Calibri" panose="020F0502020204030204" pitchFamily="34" charset="-122"/>
                <a:cs typeface="Calibri" panose="020F0502020204030204" pitchFamily="34" charset="-120"/>
              </a:rPr>
              <a:t>AIRLINE MANAGEMENT SYSTEM</a:t>
            </a:r>
            <a:endParaRPr lang="en-US" sz="4000" dirty="0"/>
          </a:p>
        </p:txBody>
      </p:sp>
      <p:sp>
        <p:nvSpPr>
          <p:cNvPr id="3" name="Text 1"/>
          <p:cNvSpPr txBox="1"/>
          <p:nvPr/>
        </p:nvSpPr>
        <p:spPr>
          <a:xfrm>
            <a:off x="913765" y="2465070"/>
            <a:ext cx="10543032" cy="457200"/>
          </a:xfrm>
          <a:prstGeom prst="rect">
            <a:avLst/>
          </a:prstGeom>
          <a:noFill/>
        </p:spPr>
        <p:txBody>
          <a:bodyPr wrap="square" lIns="0" tIns="0" rIns="0" bIns="0" rtlCol="0" anchor="ctr"/>
          <a:lstStyle/>
          <a:p>
            <a:pPr marL="0" indent="0" algn="ctr">
              <a:buNone/>
            </a:pPr>
            <a:endParaRPr lang="en-US" sz="1800" dirty="0"/>
          </a:p>
        </p:txBody>
      </p:sp>
      <p:sp>
        <p:nvSpPr>
          <p:cNvPr id="4" name="Shape 2"/>
          <p:cNvSpPr/>
          <p:nvPr/>
        </p:nvSpPr>
        <p:spPr>
          <a:xfrm>
            <a:off x="5088001" y="2922270"/>
            <a:ext cx="1828800" cy="0"/>
          </a:xfrm>
          <a:prstGeom prst="line">
            <a:avLst/>
          </a:prstGeom>
          <a:noFill/>
          <a:ln w="12700">
            <a:solidFill>
              <a:srgbClr val="CADCFC"/>
            </a:solidFill>
            <a:prstDash val="solid"/>
          </a:ln>
        </p:spPr>
      </p:sp>
      <p:sp>
        <p:nvSpPr>
          <p:cNvPr id="5" name="Text 3"/>
          <p:cNvSpPr txBox="1"/>
          <p:nvPr/>
        </p:nvSpPr>
        <p:spPr>
          <a:xfrm>
            <a:off x="731520" y="3512820"/>
            <a:ext cx="10542905" cy="1591310"/>
          </a:xfrm>
          <a:prstGeom prst="rect">
            <a:avLst/>
          </a:prstGeom>
          <a:noFill/>
        </p:spPr>
        <p:txBody>
          <a:bodyPr wrap="square" lIns="0" tIns="0" rIns="0" bIns="0" rtlCol="0" anchor="ctr"/>
          <a:lstStyle/>
          <a:p>
            <a:pPr marL="0" indent="0" algn="ctr">
              <a:lnSpc>
                <a:spcPct val="130000"/>
              </a:lnSpc>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Rishika P (24102281)</a:t>
            </a:r>
            <a:endParaRPr lang="en-US" sz="1400" dirty="0"/>
          </a:p>
          <a:p>
            <a:pPr marL="0" indent="0" algn="ctr">
              <a:lnSpc>
                <a:spcPct val="130000"/>
              </a:lnSpc>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Riya Treesa Rajeevu (24102804)</a:t>
            </a:r>
            <a:endParaRPr lang="en-US" sz="1400" dirty="0"/>
          </a:p>
          <a:p>
            <a:pPr marL="0" indent="0" algn="ctr">
              <a:lnSpc>
                <a:spcPct val="130000"/>
              </a:lnSpc>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Sania Mathew (24102275)</a:t>
            </a:r>
            <a:endParaRPr lang="en-US" sz="1400" dirty="0"/>
          </a:p>
          <a:p>
            <a:pPr marL="0" indent="0" algn="ctr">
              <a:lnSpc>
                <a:spcPct val="130000"/>
              </a:lnSpc>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Savanth Sanju (24102169)</a:t>
            </a:r>
            <a:endParaRPr lang="en-US" sz="1400" dirty="0"/>
          </a:p>
        </p:txBody>
      </p:sp>
      <p:sp>
        <p:nvSpPr>
          <p:cNvPr id="6" name="Text 4"/>
          <p:cNvSpPr txBox="1"/>
          <p:nvPr/>
        </p:nvSpPr>
        <p:spPr>
          <a:xfrm>
            <a:off x="822960" y="5316220"/>
            <a:ext cx="10543032" cy="365760"/>
          </a:xfrm>
          <a:prstGeom prst="rect">
            <a:avLst/>
          </a:prstGeom>
          <a:noFill/>
        </p:spPr>
        <p:txBody>
          <a:bodyPr wrap="square" lIns="0" tIns="0" rIns="0" bIns="0" rtlCol="0" anchor="ctr"/>
          <a:lstStyle/>
          <a:p>
            <a:pPr marL="0" indent="0" algn="ctr">
              <a:buNone/>
            </a:pPr>
            <a:r>
              <a:rPr lang="en-US" sz="1300" i="1" dirty="0">
                <a:solidFill>
                  <a:srgbClr val="CADCFC"/>
                </a:solidFill>
                <a:latin typeface="Calibri" panose="020F0502020204030204" pitchFamily="34" charset="0"/>
                <a:ea typeface="Calibri" panose="020F0502020204030204" pitchFamily="34" charset="-122"/>
                <a:cs typeface="Calibri" panose="020F0502020204030204" pitchFamily="34" charset="-120"/>
              </a:rPr>
              <a:t>Project Coordinator: Athira K 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p:spPr>
        <p:txBody>
          <a:bodyPr wrap="square" lIns="0" tIns="0" rIns="0" bIns="0" rtlCol="0" anchor="ctr"/>
          <a:lstStyle/>
          <a:p>
            <a:pPr marL="0" indent="0">
              <a:buNone/>
            </a:pPr>
            <a:endParaRPr lang="en-US" sz="1200" dirty="0"/>
          </a:p>
        </p:txBody>
      </p:sp>
      <p:sp>
        <p:nvSpPr>
          <p:cNvPr id="3" name="Text 1"/>
          <p:cNvSpPr txBox="1"/>
          <p:nvPr/>
        </p:nvSpPr>
        <p:spPr>
          <a:xfrm>
            <a:off x="548640" y="566928"/>
            <a:ext cx="11091672" cy="640080"/>
          </a:xfrm>
          <a:prstGeom prst="rect">
            <a:avLst/>
          </a:prstGeom>
          <a:noFill/>
        </p:spPr>
        <p:txBody>
          <a:bodyPr wrap="square" lIns="0" tIns="0" rIns="0" bIns="0" rtlCol="0" anchor="ctr"/>
          <a:lstStyle/>
          <a:p>
            <a:pPr marL="0" indent="0">
              <a:buNone/>
            </a:pPr>
            <a:r>
              <a:rPr lang="en-US" sz="3000" b="1" dirty="0">
                <a:solidFill>
                  <a:srgbClr val="1F3864"/>
                </a:solidFill>
                <a:latin typeface="Calibri" panose="020F0502020204030204" pitchFamily="34" charset="0"/>
                <a:ea typeface="Calibri" panose="020F0502020204030204" pitchFamily="34" charset="-122"/>
                <a:cs typeface="Calibri" panose="020F0502020204030204" pitchFamily="34" charset="-120"/>
              </a:rPr>
              <a:t>INTRODUCTION</a:t>
            </a:r>
            <a:endParaRPr lang="en-US" sz="3000" dirty="0"/>
          </a:p>
        </p:txBody>
      </p:sp>
      <p:sp>
        <p:nvSpPr>
          <p:cNvPr id="4" name="Shape 2"/>
          <p:cNvSpPr/>
          <p:nvPr/>
        </p:nvSpPr>
        <p:spPr>
          <a:xfrm>
            <a:off x="548640" y="1170432"/>
            <a:ext cx="11091672" cy="0"/>
          </a:xfrm>
          <a:prstGeom prst="line">
            <a:avLst/>
          </a:prstGeom>
          <a:noFill/>
          <a:ln w="12700">
            <a:solidFill>
              <a:srgbClr val="D9D9D9"/>
            </a:solidFill>
            <a:prstDash val="solid"/>
          </a:ln>
        </p:spPr>
      </p:sp>
      <p:sp>
        <p:nvSpPr>
          <p:cNvPr id="5" name="Text 3"/>
          <p:cNvSpPr txBox="1"/>
          <p:nvPr/>
        </p:nvSpPr>
        <p:spPr>
          <a:xfrm>
            <a:off x="548640" y="1417320"/>
            <a:ext cx="11091672" cy="4892040"/>
          </a:xfrm>
          <a:prstGeom prst="rect">
            <a:avLst/>
          </a:prstGeom>
          <a:noFill/>
        </p:spPr>
        <p:txBody>
          <a:bodyPr wrap="square" lIns="0" tIns="0" rIns="0" bIns="0" rtlCol="0" anchor="t"/>
          <a:lstStyle/>
          <a:p>
            <a:pPr indent="0">
              <a:lnSpc>
                <a:spcPct val="115000"/>
              </a:lnSpc>
              <a:spcAft>
                <a:spcPts val="800"/>
              </a:spcAft>
              <a:buSzPct val="100000"/>
              <a:buNone/>
            </a:pPr>
            <a:r>
              <a:rPr lang="en-US" altLang="en-US" sz="1600" dirty="0"/>
              <a:t>The Airline Management System (AMS) is a web-based application designed to simplify and automate important airline operations. The system provides a centralized platform for managing flight information, passenger bookings, staff records, and staff assignments.</a:t>
            </a:r>
            <a:endParaRPr lang="en-US" altLang="en-US" sz="1600" dirty="0"/>
          </a:p>
          <a:p>
            <a:pPr indent="0">
              <a:lnSpc>
                <a:spcPct val="115000"/>
              </a:lnSpc>
              <a:spcAft>
                <a:spcPts val="800"/>
              </a:spcAft>
              <a:buSzPct val="100000"/>
              <a:buNone/>
            </a:pPr>
            <a:endParaRPr lang="en-US" altLang="en-US" sz="1600" dirty="0"/>
          </a:p>
          <a:p>
            <a:pPr indent="0">
              <a:lnSpc>
                <a:spcPct val="115000"/>
              </a:lnSpc>
              <a:spcAft>
                <a:spcPts val="800"/>
              </a:spcAft>
              <a:buSzPct val="100000"/>
              <a:buNone/>
            </a:pPr>
            <a:r>
              <a:rPr lang="en-US" altLang="en-US" sz="1600" dirty="0"/>
              <a:t>The system supports different types of users, including Passengers, Administrators, Pilots, Flight Hostesses, and Ground Staff, with role-based access to ensure that each user can access the functions relevant to their responsibilities. Passengers can search for available flights, reserve seats, view their bookings, and cancel tickets, while administrators can manage flights, staff, bookings, and staff assignments. Staff members can access their assigned flight and schedule information.</a:t>
            </a:r>
            <a:endParaRPr lang="en-US" altLang="en-US" sz="1600" dirty="0"/>
          </a:p>
          <a:p>
            <a:pPr indent="0">
              <a:lnSpc>
                <a:spcPct val="115000"/>
              </a:lnSpc>
              <a:spcAft>
                <a:spcPts val="800"/>
              </a:spcAft>
              <a:buSzPct val="100000"/>
              <a:buNone/>
            </a:pPr>
            <a:endParaRPr lang="en-US" altLang="en-US" sz="1600" dirty="0"/>
          </a:p>
          <a:p>
            <a:pPr indent="0">
              <a:lnSpc>
                <a:spcPct val="115000"/>
              </a:lnSpc>
              <a:spcAft>
                <a:spcPts val="800"/>
              </a:spcAft>
              <a:buSzPct val="100000"/>
              <a:buNone/>
            </a:pPr>
            <a:r>
              <a:rPr lang="en-US" altLang="en-US" sz="1600" dirty="0"/>
              <a:t>The system aims to provide an organized and efficient platform for managing airline-related activities while reducing manual effort and improving the accessibility and consistency of airline information.</a:t>
            </a:r>
            <a:endParaRPr lang="en-US" altLang="en-US" sz="1600" dirty="0"/>
          </a:p>
        </p:txBody>
      </p:sp>
      <p:sp>
        <p:nvSpPr>
          <p:cNvPr id="6" name="Text 4"/>
          <p:cNvSpPr txBox="1"/>
          <p:nvPr/>
        </p:nvSpPr>
        <p:spPr>
          <a:xfrm>
            <a:off x="548640" y="6473952"/>
            <a:ext cx="6400800" cy="274320"/>
          </a:xfrm>
          <a:prstGeom prst="rect">
            <a:avLst/>
          </a:prstGeom>
          <a:noFill/>
        </p:spPr>
        <p:txBody>
          <a:bodyPr wrap="square" lIns="0" tIns="0" rIns="0" bIns="0" rtlCol="0" anchor="ctr"/>
          <a:lstStyle/>
          <a:p>
            <a:pPr marL="0" indent="0">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Airline Management System</a:t>
            </a:r>
            <a:endParaRPr lang="en-US" sz="900" dirty="0"/>
          </a:p>
        </p:txBody>
      </p:sp>
      <p:sp>
        <p:nvSpPr>
          <p:cNvPr id="7" name="Text 5"/>
          <p:cNvSpPr txBox="1"/>
          <p:nvPr/>
        </p:nvSpPr>
        <p:spPr>
          <a:xfrm>
            <a:off x="11183112" y="6473952"/>
            <a:ext cx="457200" cy="274320"/>
          </a:xfrm>
          <a:prstGeom prst="rect">
            <a:avLst/>
          </a:prstGeom>
          <a:noFill/>
        </p:spPr>
        <p:txBody>
          <a:bodyPr wrap="square" lIns="0" tIns="0" rIns="0" bIns="0" rtlCol="0" anchor="ctr"/>
          <a:lstStyle/>
          <a:p>
            <a:pPr marL="0" indent="0" algn="r">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p:spPr>
        <p:txBody>
          <a:bodyPr wrap="square" lIns="0" tIns="0" rIns="0" bIns="0" rtlCol="0" anchor="ctr"/>
          <a:lstStyle/>
          <a:p>
            <a:pPr marL="0" indent="0">
              <a:buNone/>
            </a:pPr>
            <a:endParaRPr lang="en-US" sz="1200" dirty="0"/>
          </a:p>
        </p:txBody>
      </p:sp>
      <p:sp>
        <p:nvSpPr>
          <p:cNvPr id="3" name="Text 1"/>
          <p:cNvSpPr txBox="1"/>
          <p:nvPr/>
        </p:nvSpPr>
        <p:spPr>
          <a:xfrm>
            <a:off x="548640" y="566928"/>
            <a:ext cx="11091672" cy="640080"/>
          </a:xfrm>
          <a:prstGeom prst="rect">
            <a:avLst/>
          </a:prstGeom>
          <a:noFill/>
        </p:spPr>
        <p:txBody>
          <a:bodyPr wrap="square" lIns="0" tIns="0" rIns="0" bIns="0" rtlCol="0" anchor="ctr"/>
          <a:lstStyle/>
          <a:p>
            <a:pPr marL="0" indent="0">
              <a:buNone/>
            </a:pPr>
            <a:r>
              <a:rPr lang="en-US" sz="3000" b="1" dirty="0">
                <a:solidFill>
                  <a:srgbClr val="1F3864"/>
                </a:solidFill>
                <a:latin typeface="Calibri" panose="020F0502020204030204" pitchFamily="34" charset="0"/>
                <a:ea typeface="Calibri" panose="020F0502020204030204" pitchFamily="34" charset="-122"/>
                <a:cs typeface="Calibri" panose="020F0502020204030204" pitchFamily="34" charset="-120"/>
              </a:rPr>
              <a:t>AIM</a:t>
            </a:r>
            <a:endParaRPr lang="en-US" sz="3000" dirty="0"/>
          </a:p>
        </p:txBody>
      </p:sp>
      <p:sp>
        <p:nvSpPr>
          <p:cNvPr id="4" name="Shape 2"/>
          <p:cNvSpPr/>
          <p:nvPr/>
        </p:nvSpPr>
        <p:spPr>
          <a:xfrm>
            <a:off x="548640" y="1170432"/>
            <a:ext cx="11091672" cy="0"/>
          </a:xfrm>
          <a:prstGeom prst="line">
            <a:avLst/>
          </a:prstGeom>
          <a:noFill/>
          <a:ln w="12700">
            <a:solidFill>
              <a:srgbClr val="D9D9D9"/>
            </a:solidFill>
            <a:prstDash val="solid"/>
          </a:ln>
        </p:spPr>
      </p:sp>
      <p:sp>
        <p:nvSpPr>
          <p:cNvPr id="5" name="Text 3"/>
          <p:cNvSpPr txBox="1"/>
          <p:nvPr/>
        </p:nvSpPr>
        <p:spPr>
          <a:xfrm>
            <a:off x="548640" y="1417320"/>
            <a:ext cx="11091672" cy="4892040"/>
          </a:xfrm>
          <a:prstGeom prst="rect">
            <a:avLst/>
          </a:prstGeom>
          <a:noFill/>
        </p:spPr>
        <p:txBody>
          <a:bodyPr wrap="square" lIns="0" tIns="0" rIns="0" bIns="0" rtlCol="0" anchor="t"/>
          <a:lstStyle/>
          <a:p>
            <a:pPr indent="0">
              <a:lnSpc>
                <a:spcPct val="115000"/>
              </a:lnSpc>
              <a:spcAft>
                <a:spcPts val="800"/>
              </a:spcAft>
              <a:buSzPct val="100000"/>
              <a:buNone/>
            </a:pPr>
            <a:r>
              <a:rPr lang="en-US" altLang="en-US" sz="1600" dirty="0"/>
              <a:t>The aim of the Airline Management System (AMS) is to develop a centralized, web-based platform that efficiently manages and automates major airline operations, including flight management, passenger bookings, ticket management, staff management, and staff assignments. The system is intended to simplify the process of searching and booking flights for passengers while providing administrators with the necessary tools to manage flight information, booking records, staff details, and staff schedules.</a:t>
            </a:r>
            <a:endParaRPr lang="en-US" altLang="en-US" sz="1600" dirty="0"/>
          </a:p>
          <a:p>
            <a:pPr indent="0">
              <a:lnSpc>
                <a:spcPct val="115000"/>
              </a:lnSpc>
              <a:spcAft>
                <a:spcPts val="800"/>
              </a:spcAft>
              <a:buSzPct val="100000"/>
              <a:buNone/>
            </a:pPr>
            <a:endParaRPr lang="en-US" altLang="en-US" sz="1600" dirty="0"/>
          </a:p>
          <a:p>
            <a:pPr indent="0">
              <a:lnSpc>
                <a:spcPct val="115000"/>
              </a:lnSpc>
              <a:spcAft>
                <a:spcPts val="800"/>
              </a:spcAft>
              <a:buSzPct val="100000"/>
              <a:buNone/>
            </a:pPr>
            <a:r>
              <a:rPr lang="en-US" altLang="en-US" sz="1600" dirty="0"/>
              <a:t>The system also aims to provide role-based access for passengers, administrators, pilots, flight hostesses, and ground staff, allowing each user to access the functions relevant to their responsibilities. By bringing these operations together into a single platform, the system aims to reduce manual effort, improve data consistency, simplify airline workflows, and provide efficient access to flight and booking information..</a:t>
            </a:r>
            <a:endParaRPr lang="en-US" altLang="en-US" sz="1600" dirty="0"/>
          </a:p>
        </p:txBody>
      </p:sp>
      <p:sp>
        <p:nvSpPr>
          <p:cNvPr id="6" name="Text 4"/>
          <p:cNvSpPr txBox="1"/>
          <p:nvPr/>
        </p:nvSpPr>
        <p:spPr>
          <a:xfrm>
            <a:off x="548640" y="6473952"/>
            <a:ext cx="6400800" cy="274320"/>
          </a:xfrm>
          <a:prstGeom prst="rect">
            <a:avLst/>
          </a:prstGeom>
          <a:noFill/>
        </p:spPr>
        <p:txBody>
          <a:bodyPr wrap="square" lIns="0" tIns="0" rIns="0" bIns="0" rtlCol="0" anchor="ctr"/>
          <a:lstStyle/>
          <a:p>
            <a:pPr marL="0" indent="0">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Airline Management System </a:t>
            </a:r>
            <a:endParaRPr lang="en-US" sz="900" dirty="0"/>
          </a:p>
        </p:txBody>
      </p:sp>
      <p:sp>
        <p:nvSpPr>
          <p:cNvPr id="7" name="Text 5"/>
          <p:cNvSpPr txBox="1"/>
          <p:nvPr/>
        </p:nvSpPr>
        <p:spPr>
          <a:xfrm>
            <a:off x="11183112" y="6473952"/>
            <a:ext cx="457200" cy="274320"/>
          </a:xfrm>
          <a:prstGeom prst="rect">
            <a:avLst/>
          </a:prstGeom>
          <a:noFill/>
        </p:spPr>
        <p:txBody>
          <a:bodyPr wrap="square" lIns="0" tIns="0" rIns="0" bIns="0" rtlCol="0" anchor="ctr"/>
          <a:lstStyle/>
          <a:p>
            <a:pPr marL="0" indent="0" algn="r">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p:spPr>
        <p:txBody>
          <a:bodyPr wrap="square" lIns="0" tIns="0" rIns="0" bIns="0" rtlCol="0" anchor="ctr"/>
          <a:lstStyle/>
          <a:p>
            <a:pPr marL="0" indent="0">
              <a:buNone/>
            </a:pPr>
            <a:endParaRPr lang="en-US" sz="1200" dirty="0"/>
          </a:p>
        </p:txBody>
      </p:sp>
      <p:sp>
        <p:nvSpPr>
          <p:cNvPr id="3" name="Text 1"/>
          <p:cNvSpPr txBox="1"/>
          <p:nvPr/>
        </p:nvSpPr>
        <p:spPr>
          <a:xfrm>
            <a:off x="548640" y="566928"/>
            <a:ext cx="11091672" cy="640080"/>
          </a:xfrm>
          <a:prstGeom prst="rect">
            <a:avLst/>
          </a:prstGeom>
          <a:noFill/>
        </p:spPr>
        <p:txBody>
          <a:bodyPr wrap="square" lIns="0" tIns="0" rIns="0" bIns="0" rtlCol="0" anchor="ctr"/>
          <a:lstStyle/>
          <a:p>
            <a:pPr marL="0" indent="0">
              <a:buNone/>
            </a:pPr>
            <a:r>
              <a:rPr lang="en-US" sz="3000" b="1" dirty="0">
                <a:solidFill>
                  <a:srgbClr val="1F3864"/>
                </a:solidFill>
                <a:latin typeface="Calibri" panose="020F0502020204030204" pitchFamily="34" charset="0"/>
                <a:ea typeface="Calibri" panose="020F0502020204030204" pitchFamily="34" charset="-122"/>
                <a:cs typeface="Calibri" panose="020F0502020204030204" pitchFamily="34" charset="-120"/>
              </a:rPr>
              <a:t>OBJECTIVE</a:t>
            </a:r>
            <a:endParaRPr lang="en-US" sz="3000" dirty="0"/>
          </a:p>
        </p:txBody>
      </p:sp>
      <p:sp>
        <p:nvSpPr>
          <p:cNvPr id="4" name="Shape 2"/>
          <p:cNvSpPr/>
          <p:nvPr/>
        </p:nvSpPr>
        <p:spPr>
          <a:xfrm>
            <a:off x="548640" y="1170432"/>
            <a:ext cx="11091672" cy="0"/>
          </a:xfrm>
          <a:prstGeom prst="line">
            <a:avLst/>
          </a:prstGeom>
          <a:noFill/>
          <a:ln w="12700">
            <a:solidFill>
              <a:srgbClr val="D9D9D9"/>
            </a:solidFill>
            <a:prstDash val="solid"/>
          </a:ln>
        </p:spPr>
      </p:sp>
      <p:sp>
        <p:nvSpPr>
          <p:cNvPr id="5" name="Text 3"/>
          <p:cNvSpPr txBox="1"/>
          <p:nvPr/>
        </p:nvSpPr>
        <p:spPr>
          <a:xfrm>
            <a:off x="548640" y="1417320"/>
            <a:ext cx="11091672" cy="4892040"/>
          </a:xfrm>
          <a:prstGeom prst="rect">
            <a:avLst/>
          </a:prstGeom>
          <a:noFill/>
        </p:spPr>
        <p:txBody>
          <a:bodyPr wrap="square" lIns="0" tIns="0" rIns="0" bIns="0" rtlCol="0" anchor="t"/>
          <a:lstStyle/>
          <a:p>
            <a:pPr indent="0">
              <a:lnSpc>
                <a:spcPct val="115000"/>
              </a:lnSpc>
              <a:spcAft>
                <a:spcPts val="800"/>
              </a:spcAft>
              <a:buSzPct val="100000"/>
              <a:buNone/>
            </a:pPr>
            <a:r>
              <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The main objectives of the Airline Management System are:</a:t>
            </a:r>
            <a:endPar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endParaRPr>
          </a:p>
          <a:p>
            <a:pPr marL="342900" indent="-342900">
              <a:lnSpc>
                <a:spcPct val="115000"/>
              </a:lnSpc>
              <a:spcAft>
                <a:spcPts val="800"/>
              </a:spcAft>
              <a:buSzPct val="100000"/>
              <a:buChar char="•"/>
            </a:pPr>
            <a:r>
              <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To provide a centralized platform for managing airline operations.</a:t>
            </a:r>
            <a:endPar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endParaRPr>
          </a:p>
          <a:p>
            <a:pPr marL="342900" indent="-342900">
              <a:lnSpc>
                <a:spcPct val="115000"/>
              </a:lnSpc>
              <a:spcAft>
                <a:spcPts val="800"/>
              </a:spcAft>
              <a:buSzPct val="100000"/>
              <a:buChar char="•"/>
            </a:pPr>
            <a:r>
              <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To allow passengers to search for available flights and book tickets easily.</a:t>
            </a:r>
            <a:endPar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endParaRPr>
          </a:p>
          <a:p>
            <a:pPr marL="342900" indent="-342900">
              <a:lnSpc>
                <a:spcPct val="115000"/>
              </a:lnSpc>
              <a:spcAft>
                <a:spcPts val="800"/>
              </a:spcAft>
              <a:buSzPct val="100000"/>
              <a:buChar char="•"/>
            </a:pPr>
            <a:r>
              <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To enable passengers to view and cancel their bookings.</a:t>
            </a:r>
            <a:endPar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endParaRPr>
          </a:p>
          <a:p>
            <a:pPr marL="342900" indent="-342900">
              <a:lnSpc>
                <a:spcPct val="115000"/>
              </a:lnSpc>
              <a:spcAft>
                <a:spcPts val="800"/>
              </a:spcAft>
              <a:buSzPct val="100000"/>
              <a:buChar char="•"/>
            </a:pPr>
            <a:r>
              <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To allow administrators to add, update, view, and delete flight information.</a:t>
            </a:r>
            <a:endPar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endParaRPr>
          </a:p>
          <a:p>
            <a:pPr marL="342900" indent="-342900">
              <a:lnSpc>
                <a:spcPct val="115000"/>
              </a:lnSpc>
              <a:spcAft>
                <a:spcPts val="800"/>
              </a:spcAft>
              <a:buSzPct val="100000"/>
              <a:buChar char="•"/>
            </a:pPr>
            <a:r>
              <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To maintain and manage information about pilots, flight hostesses, and ground staff.</a:t>
            </a:r>
            <a:endPar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endParaRPr>
          </a:p>
          <a:p>
            <a:pPr marL="342900" indent="-342900">
              <a:lnSpc>
                <a:spcPct val="115000"/>
              </a:lnSpc>
              <a:spcAft>
                <a:spcPts val="800"/>
              </a:spcAft>
              <a:buSzPct val="100000"/>
              <a:buChar char="•"/>
            </a:pPr>
            <a:r>
              <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To allow administrators to assign staff members to flights and schedules.</a:t>
            </a:r>
            <a:endPar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endParaRPr>
          </a:p>
          <a:p>
            <a:pPr marL="342900" indent="-342900">
              <a:lnSpc>
                <a:spcPct val="115000"/>
              </a:lnSpc>
              <a:spcAft>
                <a:spcPts val="800"/>
              </a:spcAft>
              <a:buSzPct val="100000"/>
              <a:buChar char="•"/>
            </a:pPr>
            <a:r>
              <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To allow staff members to view their assigned schedules.</a:t>
            </a:r>
            <a:endPar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endParaRPr>
          </a:p>
          <a:p>
            <a:pPr marL="342900" indent="-342900">
              <a:lnSpc>
                <a:spcPct val="115000"/>
              </a:lnSpc>
              <a:spcAft>
                <a:spcPts val="800"/>
              </a:spcAft>
              <a:buSzPct val="100000"/>
              <a:buChar char="•"/>
            </a:pPr>
            <a:r>
              <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To provide role-based access control for passengers, administrators, and staff.</a:t>
            </a:r>
            <a:endPar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endParaRPr>
          </a:p>
          <a:p>
            <a:pPr marL="342900" indent="-342900">
              <a:lnSpc>
                <a:spcPct val="115000"/>
              </a:lnSpc>
              <a:spcAft>
                <a:spcPts val="800"/>
              </a:spcAft>
              <a:buSzPct val="100000"/>
              <a:buChar char="•"/>
            </a:pPr>
            <a:r>
              <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To maintain accurate and consistent airline-related information.</a:t>
            </a:r>
            <a:endPar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endParaRPr>
          </a:p>
          <a:p>
            <a:pPr marL="342900" indent="-342900">
              <a:lnSpc>
                <a:spcPct val="115000"/>
              </a:lnSpc>
              <a:spcAft>
                <a:spcPts val="800"/>
              </a:spcAft>
              <a:buSzPct val="100000"/>
              <a:buChar char="•"/>
            </a:pPr>
            <a:r>
              <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To reduce manual effort and improve the efficiency of airline operations.</a:t>
            </a:r>
            <a:endParaRPr lang="en-US" alt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endParaRPr>
          </a:p>
          <a:p>
            <a:pPr indent="0">
              <a:lnSpc>
                <a:spcPct val="115000"/>
              </a:lnSpc>
              <a:spcAft>
                <a:spcPts val="800"/>
              </a:spcAft>
              <a:buSzPct val="100000"/>
              <a:buNone/>
            </a:pPr>
            <a:endParaRPr lang="en-US" sz="1600" dirty="0"/>
          </a:p>
        </p:txBody>
      </p:sp>
      <p:sp>
        <p:nvSpPr>
          <p:cNvPr id="6" name="Text 4"/>
          <p:cNvSpPr txBox="1"/>
          <p:nvPr/>
        </p:nvSpPr>
        <p:spPr>
          <a:xfrm>
            <a:off x="548640" y="6473952"/>
            <a:ext cx="6400800" cy="274320"/>
          </a:xfrm>
          <a:prstGeom prst="rect">
            <a:avLst/>
          </a:prstGeom>
          <a:noFill/>
        </p:spPr>
        <p:txBody>
          <a:bodyPr wrap="square" lIns="0" tIns="0" rIns="0" bIns="0" rtlCol="0" anchor="ctr"/>
          <a:lstStyle/>
          <a:p>
            <a:pPr marL="0" indent="0">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Airline Management System </a:t>
            </a:r>
            <a:endParaRPr lang="en-US" sz="900" dirty="0"/>
          </a:p>
        </p:txBody>
      </p:sp>
      <p:sp>
        <p:nvSpPr>
          <p:cNvPr id="7" name="Text 5"/>
          <p:cNvSpPr txBox="1"/>
          <p:nvPr/>
        </p:nvSpPr>
        <p:spPr>
          <a:xfrm>
            <a:off x="11183112" y="6473952"/>
            <a:ext cx="457200" cy="274320"/>
          </a:xfrm>
          <a:prstGeom prst="rect">
            <a:avLst/>
          </a:prstGeom>
          <a:noFill/>
        </p:spPr>
        <p:txBody>
          <a:bodyPr wrap="square" lIns="0" tIns="0" rIns="0" bIns="0" rtlCol="0" anchor="ctr"/>
          <a:lstStyle/>
          <a:p>
            <a:pPr marL="0" indent="0" algn="r">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p:spPr>
        <p:txBody>
          <a:bodyPr wrap="square" lIns="0" tIns="0" rIns="0" bIns="0" rtlCol="0" anchor="ctr"/>
          <a:lstStyle/>
          <a:p>
            <a:pPr marL="0" indent="0">
              <a:buNone/>
            </a:pPr>
            <a:endParaRPr lang="en-US" sz="1200" dirty="0"/>
          </a:p>
        </p:txBody>
      </p:sp>
      <p:sp>
        <p:nvSpPr>
          <p:cNvPr id="3" name="Text 1"/>
          <p:cNvSpPr txBox="1"/>
          <p:nvPr/>
        </p:nvSpPr>
        <p:spPr>
          <a:xfrm>
            <a:off x="548640" y="566928"/>
            <a:ext cx="11091672" cy="640080"/>
          </a:xfrm>
          <a:prstGeom prst="rect">
            <a:avLst/>
          </a:prstGeom>
          <a:noFill/>
        </p:spPr>
        <p:txBody>
          <a:bodyPr wrap="square" lIns="0" tIns="0" rIns="0" bIns="0" rtlCol="0" anchor="ctr"/>
          <a:lstStyle/>
          <a:p>
            <a:pPr marL="0" indent="0">
              <a:buNone/>
            </a:pPr>
            <a:r>
              <a:rPr lang="en-US" sz="3000" b="1" dirty="0">
                <a:solidFill>
                  <a:srgbClr val="1F3864"/>
                </a:solidFill>
                <a:latin typeface="Calibri" panose="020F0502020204030204" pitchFamily="34" charset="0"/>
                <a:ea typeface="Calibri" panose="020F0502020204030204" pitchFamily="34" charset="-122"/>
                <a:cs typeface="Calibri" panose="020F0502020204030204" pitchFamily="34" charset="-120"/>
              </a:rPr>
              <a:t>SCOPE</a:t>
            </a:r>
            <a:endParaRPr lang="en-US" sz="3000" dirty="0"/>
          </a:p>
        </p:txBody>
      </p:sp>
      <p:sp>
        <p:nvSpPr>
          <p:cNvPr id="4" name="Shape 2"/>
          <p:cNvSpPr/>
          <p:nvPr/>
        </p:nvSpPr>
        <p:spPr>
          <a:xfrm>
            <a:off x="548640" y="1170432"/>
            <a:ext cx="11091672" cy="0"/>
          </a:xfrm>
          <a:prstGeom prst="line">
            <a:avLst/>
          </a:prstGeom>
          <a:noFill/>
          <a:ln w="12700">
            <a:solidFill>
              <a:srgbClr val="D9D9D9"/>
            </a:solidFill>
            <a:prstDash val="solid"/>
          </a:ln>
        </p:spPr>
      </p:sp>
      <p:sp>
        <p:nvSpPr>
          <p:cNvPr id="5" name="Text 3"/>
          <p:cNvSpPr txBox="1"/>
          <p:nvPr/>
        </p:nvSpPr>
        <p:spPr>
          <a:xfrm>
            <a:off x="424180" y="1394460"/>
            <a:ext cx="11091672" cy="4892040"/>
          </a:xfrm>
          <a:prstGeom prst="rect">
            <a:avLst/>
          </a:prstGeom>
          <a:noFill/>
        </p:spPr>
        <p:txBody>
          <a:bodyPr wrap="square" lIns="0" tIns="0" rIns="0" bIns="0" rtlCol="0" anchor="t"/>
          <a:lstStyle/>
          <a:p>
            <a:pPr indent="0">
              <a:lnSpc>
                <a:spcPct val="115000"/>
              </a:lnSpc>
              <a:spcAft>
                <a:spcPts val="800"/>
              </a:spcAft>
              <a:buSzPct val="100000"/>
              <a:buNone/>
            </a:pPr>
            <a:r>
              <a:rPr lang="en-US" altLang="en-US" sz="1600" dirty="0"/>
              <a:t>The scope of the Airline Management System covers the centralized management of flight information, passenger bookings, and airline staff operations.</a:t>
            </a:r>
            <a:endParaRPr lang="en-US" altLang="en-US" sz="1600" dirty="0"/>
          </a:p>
          <a:p>
            <a:pPr indent="0">
              <a:lnSpc>
                <a:spcPct val="115000"/>
              </a:lnSpc>
              <a:spcAft>
                <a:spcPts val="800"/>
              </a:spcAft>
              <a:buSzPct val="100000"/>
              <a:buNone/>
            </a:pPr>
            <a:r>
              <a:rPr lang="en-US" altLang="en-US" sz="1600" dirty="0"/>
              <a:t>The system includes the foll</a:t>
            </a:r>
            <a:r>
              <a:rPr lang="en-US" altLang="en-US" sz="1600" dirty="0">
                <a:solidFill>
                  <a:schemeClr val="tx1"/>
                </a:solidFill>
              </a:rPr>
              <a:t>owing major areas:</a:t>
            </a:r>
            <a:endParaRPr lang="en-US" altLang="en-US" sz="1600" dirty="0">
              <a:solidFill>
                <a:schemeClr val="accent1">
                  <a:lumMod val="75000"/>
                </a:schemeClr>
              </a:solidFill>
            </a:endParaRPr>
          </a:p>
          <a:p>
            <a:pPr indent="0">
              <a:lnSpc>
                <a:spcPct val="115000"/>
              </a:lnSpc>
              <a:spcAft>
                <a:spcPts val="800"/>
              </a:spcAft>
              <a:buSzPct val="100000"/>
              <a:buNone/>
            </a:pPr>
            <a:r>
              <a:rPr lang="en-US" altLang="en-US" sz="1600" b="1" dirty="0">
                <a:solidFill>
                  <a:schemeClr val="accent1">
                    <a:lumMod val="75000"/>
                  </a:schemeClr>
                </a:solidFill>
              </a:rPr>
              <a:t>Passenger Management</a:t>
            </a:r>
            <a:endParaRPr lang="en-US" altLang="en-US" sz="1600" b="1" dirty="0">
              <a:solidFill>
                <a:schemeClr val="accent1">
                  <a:lumMod val="75000"/>
                </a:schemeClr>
              </a:solidFill>
            </a:endParaRPr>
          </a:p>
          <a:p>
            <a:pPr indent="0">
              <a:lnSpc>
                <a:spcPct val="115000"/>
              </a:lnSpc>
              <a:spcAft>
                <a:spcPts val="800"/>
              </a:spcAft>
              <a:buSzPct val="100000"/>
              <a:buNone/>
            </a:pPr>
            <a:r>
              <a:rPr lang="en-US" altLang="en-US" sz="1600" dirty="0"/>
              <a:t>Passengers can register and log in, search for available flights, view flight details, book tickets, view existing bookings, and cancel bookings.</a:t>
            </a:r>
            <a:endParaRPr lang="en-US" altLang="en-US" sz="1600" dirty="0"/>
          </a:p>
          <a:p>
            <a:pPr indent="0">
              <a:lnSpc>
                <a:spcPct val="115000"/>
              </a:lnSpc>
              <a:spcAft>
                <a:spcPts val="800"/>
              </a:spcAft>
              <a:buSzPct val="100000"/>
              <a:buNone/>
            </a:pPr>
            <a:r>
              <a:rPr lang="en-US" altLang="en-US" sz="1600" b="1" dirty="0">
                <a:solidFill>
                  <a:schemeClr val="accent1">
                    <a:lumMod val="75000"/>
                  </a:schemeClr>
                </a:solidFill>
              </a:rPr>
              <a:t>Flight Management</a:t>
            </a:r>
            <a:endParaRPr lang="en-US" altLang="en-US" sz="1600" b="1" dirty="0">
              <a:solidFill>
                <a:schemeClr val="accent1">
                  <a:lumMod val="75000"/>
                </a:schemeClr>
              </a:solidFill>
            </a:endParaRPr>
          </a:p>
          <a:p>
            <a:pPr indent="0">
              <a:lnSpc>
                <a:spcPct val="115000"/>
              </a:lnSpc>
              <a:spcAft>
                <a:spcPts val="800"/>
              </a:spcAft>
              <a:buSzPct val="100000"/>
              <a:buNone/>
            </a:pPr>
            <a:r>
              <a:rPr lang="en-US" altLang="en-US" sz="1600" dirty="0"/>
              <a:t>Administrators can add new flights, view flight details, update flight information, delete flights, and maintain flight schedules and flight status.</a:t>
            </a:r>
            <a:endParaRPr lang="en-US" altLang="en-US" sz="1600" dirty="0"/>
          </a:p>
          <a:p>
            <a:pPr indent="0">
              <a:lnSpc>
                <a:spcPct val="115000"/>
              </a:lnSpc>
              <a:spcAft>
                <a:spcPts val="800"/>
              </a:spcAft>
              <a:buSzPct val="100000"/>
              <a:buNone/>
            </a:pPr>
            <a:r>
              <a:rPr lang="en-US" altLang="en-US" sz="1600" b="1" dirty="0">
                <a:solidFill>
                  <a:schemeClr val="accent1">
                    <a:lumMod val="75000"/>
                  </a:schemeClr>
                </a:solidFill>
              </a:rPr>
              <a:t>Booking Management</a:t>
            </a:r>
            <a:endParaRPr lang="en-US" altLang="en-US" sz="1600" dirty="0"/>
          </a:p>
          <a:p>
            <a:pPr indent="0">
              <a:lnSpc>
                <a:spcPct val="115000"/>
              </a:lnSpc>
              <a:spcAft>
                <a:spcPts val="800"/>
              </a:spcAft>
              <a:buSzPct val="100000"/>
              <a:buNone/>
            </a:pPr>
            <a:r>
              <a:rPr lang="en-US" altLang="en-US" sz="1600" dirty="0"/>
              <a:t>The system allows passengers to create and confirm bookings, generate ticket details, view booking information, and cancel existing bookings.</a:t>
            </a:r>
            <a:endParaRPr lang="en-US" altLang="en-US" sz="1600" dirty="0"/>
          </a:p>
          <a:p>
            <a:pPr indent="0">
              <a:lnSpc>
                <a:spcPct val="115000"/>
              </a:lnSpc>
              <a:spcAft>
                <a:spcPts val="800"/>
              </a:spcAft>
              <a:buSzPct val="100000"/>
              <a:buNone/>
            </a:pPr>
            <a:endParaRPr lang="en-US" altLang="en-US" sz="1600" dirty="0"/>
          </a:p>
          <a:p>
            <a:pPr indent="0">
              <a:lnSpc>
                <a:spcPct val="115000"/>
              </a:lnSpc>
              <a:spcAft>
                <a:spcPts val="800"/>
              </a:spcAft>
              <a:buSzPct val="100000"/>
              <a:buNone/>
            </a:pPr>
            <a:endParaRPr lang="en-US" altLang="en-US" sz="1600" dirty="0"/>
          </a:p>
        </p:txBody>
      </p:sp>
      <p:sp>
        <p:nvSpPr>
          <p:cNvPr id="6" name="Text 4"/>
          <p:cNvSpPr txBox="1"/>
          <p:nvPr/>
        </p:nvSpPr>
        <p:spPr>
          <a:xfrm>
            <a:off x="548640" y="6473952"/>
            <a:ext cx="6400800" cy="274320"/>
          </a:xfrm>
          <a:prstGeom prst="rect">
            <a:avLst/>
          </a:prstGeom>
          <a:noFill/>
        </p:spPr>
        <p:txBody>
          <a:bodyPr wrap="square" lIns="0" tIns="0" rIns="0" bIns="0" rtlCol="0" anchor="ctr"/>
          <a:lstStyle/>
          <a:p>
            <a:pPr marL="0" indent="0">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Airline Management System </a:t>
            </a:r>
            <a:endParaRPr lang="en-US" sz="900" dirty="0"/>
          </a:p>
        </p:txBody>
      </p:sp>
      <p:sp>
        <p:nvSpPr>
          <p:cNvPr id="7" name="Text 5"/>
          <p:cNvSpPr txBox="1"/>
          <p:nvPr/>
        </p:nvSpPr>
        <p:spPr>
          <a:xfrm>
            <a:off x="11183112" y="6473952"/>
            <a:ext cx="457200" cy="274320"/>
          </a:xfrm>
          <a:prstGeom prst="rect">
            <a:avLst/>
          </a:prstGeom>
          <a:noFill/>
        </p:spPr>
        <p:txBody>
          <a:bodyPr wrap="square" lIns="0" tIns="0" rIns="0" bIns="0" rtlCol="0" anchor="ctr"/>
          <a:lstStyle/>
          <a:p>
            <a:pPr marL="0" indent="0" algn="r">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524510" y="474980"/>
            <a:ext cx="10962640" cy="4687570"/>
          </a:xfrm>
          <a:prstGeom prst="rect">
            <a:avLst/>
          </a:prstGeom>
          <a:noFill/>
        </p:spPr>
        <p:txBody>
          <a:bodyPr wrap="square" rtlCol="0">
            <a:spAutoFit/>
          </a:bodyPr>
          <a:p>
            <a:pPr indent="0">
              <a:lnSpc>
                <a:spcPct val="115000"/>
              </a:lnSpc>
              <a:spcAft>
                <a:spcPts val="800"/>
              </a:spcAft>
              <a:buSzPct val="100000"/>
              <a:buNone/>
            </a:pPr>
            <a:r>
              <a:rPr lang="en-US" altLang="en-US" b="1" dirty="0">
                <a:solidFill>
                  <a:schemeClr val="accent1">
                    <a:lumMod val="75000"/>
                  </a:schemeClr>
                </a:solidFill>
                <a:sym typeface="+mn-ea"/>
              </a:rPr>
              <a:t>Staff Management</a:t>
            </a:r>
            <a:endParaRPr lang="en-US" altLang="en-US" b="1" dirty="0">
              <a:solidFill>
                <a:schemeClr val="accent1">
                  <a:lumMod val="75000"/>
                </a:schemeClr>
              </a:solidFill>
            </a:endParaRPr>
          </a:p>
          <a:p>
            <a:pPr indent="0">
              <a:lnSpc>
                <a:spcPct val="115000"/>
              </a:lnSpc>
              <a:spcAft>
                <a:spcPts val="800"/>
              </a:spcAft>
              <a:buSzPct val="100000"/>
              <a:buNone/>
            </a:pPr>
            <a:r>
              <a:rPr lang="en-US" altLang="en-US" dirty="0">
                <a:sym typeface="+mn-ea"/>
              </a:rPr>
              <a:t>Administrators can manage airline staff, including Pilots, Flight Hostesses, and Ground Staff, by adding, updating, viewing, and deleting staff records.</a:t>
            </a:r>
            <a:endParaRPr lang="en-US" altLang="en-US" dirty="0"/>
          </a:p>
          <a:p>
            <a:pPr indent="0">
              <a:lnSpc>
                <a:spcPct val="115000"/>
              </a:lnSpc>
              <a:spcAft>
                <a:spcPts val="800"/>
              </a:spcAft>
              <a:buSzPct val="100000"/>
              <a:buNone/>
            </a:pPr>
            <a:endParaRPr lang="en-US" altLang="en-US" dirty="0"/>
          </a:p>
          <a:p>
            <a:pPr indent="0">
              <a:lnSpc>
                <a:spcPct val="115000"/>
              </a:lnSpc>
              <a:spcAft>
                <a:spcPts val="800"/>
              </a:spcAft>
              <a:buSzPct val="100000"/>
              <a:buNone/>
            </a:pPr>
            <a:r>
              <a:rPr lang="en-US" altLang="en-US" b="1" dirty="0">
                <a:solidFill>
                  <a:schemeClr val="accent1">
                    <a:lumMod val="75000"/>
                  </a:schemeClr>
                </a:solidFill>
                <a:sym typeface="+mn-ea"/>
              </a:rPr>
              <a:t>Staff Assignment</a:t>
            </a:r>
            <a:endParaRPr lang="en-US" altLang="en-US" b="1" dirty="0">
              <a:solidFill>
                <a:schemeClr val="accent1">
                  <a:lumMod val="75000"/>
                </a:schemeClr>
              </a:solidFill>
            </a:endParaRPr>
          </a:p>
          <a:p>
            <a:pPr indent="0">
              <a:lnSpc>
                <a:spcPct val="115000"/>
              </a:lnSpc>
              <a:spcAft>
                <a:spcPts val="800"/>
              </a:spcAft>
              <a:buSzPct val="100000"/>
              <a:buNone/>
            </a:pPr>
            <a:r>
              <a:rPr lang="en-US" altLang="en-US" dirty="0">
                <a:sym typeface="+mn-ea"/>
              </a:rPr>
              <a:t>Administrators can assign staff members to flights or schedules. The assigned schedule can then be accessed by the corresponding staff member.</a:t>
            </a:r>
            <a:endParaRPr lang="en-US" altLang="en-US" dirty="0"/>
          </a:p>
          <a:p>
            <a:pPr indent="0">
              <a:lnSpc>
                <a:spcPct val="115000"/>
              </a:lnSpc>
              <a:spcAft>
                <a:spcPts val="800"/>
              </a:spcAft>
              <a:buSzPct val="100000"/>
              <a:buNone/>
            </a:pPr>
            <a:endParaRPr lang="en-US" altLang="en-US" dirty="0"/>
          </a:p>
          <a:p>
            <a:pPr indent="0">
              <a:lnSpc>
                <a:spcPct val="115000"/>
              </a:lnSpc>
              <a:spcAft>
                <a:spcPts val="800"/>
              </a:spcAft>
              <a:buSzPct val="100000"/>
              <a:buNone/>
            </a:pPr>
            <a:r>
              <a:rPr lang="en-US" altLang="en-US" b="1" dirty="0">
                <a:solidFill>
                  <a:schemeClr val="accent1">
                    <a:lumMod val="75000"/>
                  </a:schemeClr>
                </a:solidFill>
                <a:sym typeface="+mn-ea"/>
              </a:rPr>
              <a:t>Role-Based Access</a:t>
            </a:r>
            <a:endParaRPr lang="en-US" altLang="en-US" dirty="0"/>
          </a:p>
          <a:p>
            <a:pPr indent="0">
              <a:lnSpc>
                <a:spcPct val="115000"/>
              </a:lnSpc>
              <a:spcAft>
                <a:spcPts val="800"/>
              </a:spcAft>
              <a:buSzPct val="100000"/>
              <a:buNone/>
            </a:pPr>
            <a:r>
              <a:rPr lang="en-US" altLang="en-US" dirty="0">
                <a:sym typeface="+mn-ea"/>
              </a:rPr>
              <a:t>The system provides different functionalities according to the user's role. Passengers, administrators, pilots, flight hostesses, and ground staff have access to the functions relevant to their responsibilities.</a:t>
            </a:r>
            <a:endParaRPr lang="en-US" altLang="en-US" dirty="0"/>
          </a:p>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p:spPr>
        <p:txBody>
          <a:bodyPr wrap="square" lIns="0" tIns="0" rIns="0" bIns="0" rtlCol="0" anchor="ctr"/>
          <a:lstStyle/>
          <a:p>
            <a:pPr marL="0" indent="0">
              <a:buNone/>
            </a:pPr>
            <a:endParaRPr lang="en-US" sz="1200" dirty="0"/>
          </a:p>
        </p:txBody>
      </p:sp>
      <p:sp>
        <p:nvSpPr>
          <p:cNvPr id="3" name="Text 1"/>
          <p:cNvSpPr txBox="1"/>
          <p:nvPr/>
        </p:nvSpPr>
        <p:spPr>
          <a:xfrm>
            <a:off x="548640" y="566928"/>
            <a:ext cx="11091672" cy="640080"/>
          </a:xfrm>
          <a:prstGeom prst="rect">
            <a:avLst/>
          </a:prstGeom>
          <a:noFill/>
        </p:spPr>
        <p:txBody>
          <a:bodyPr wrap="square" lIns="0" tIns="0" rIns="0" bIns="0" rtlCol="0" anchor="ctr"/>
          <a:lstStyle/>
          <a:p>
            <a:pPr marL="0" indent="0">
              <a:buNone/>
            </a:pPr>
            <a:r>
              <a:rPr lang="en-US" altLang="en-US" sz="3000" b="1" dirty="0">
                <a:solidFill>
                  <a:schemeClr val="accent1">
                    <a:lumMod val="75000"/>
                  </a:schemeClr>
                </a:solidFill>
                <a:sym typeface="+mn-ea"/>
              </a:rPr>
              <a:t>FUNCTIONAL REQUIREMENTS</a:t>
            </a:r>
            <a:endParaRPr lang="en-US" sz="3000" dirty="0"/>
          </a:p>
        </p:txBody>
      </p:sp>
      <p:sp>
        <p:nvSpPr>
          <p:cNvPr id="4" name="Shape 2"/>
          <p:cNvSpPr/>
          <p:nvPr/>
        </p:nvSpPr>
        <p:spPr>
          <a:xfrm>
            <a:off x="548640" y="1170432"/>
            <a:ext cx="11091672" cy="0"/>
          </a:xfrm>
          <a:prstGeom prst="line">
            <a:avLst/>
          </a:prstGeom>
          <a:noFill/>
          <a:ln w="12700">
            <a:solidFill>
              <a:srgbClr val="D9D9D9"/>
            </a:solidFill>
            <a:prstDash val="solid"/>
          </a:ln>
        </p:spPr>
      </p:sp>
      <p:sp>
        <p:nvSpPr>
          <p:cNvPr id="5" name="Text 3"/>
          <p:cNvSpPr txBox="1"/>
          <p:nvPr/>
        </p:nvSpPr>
        <p:spPr>
          <a:xfrm>
            <a:off x="548640" y="1417320"/>
            <a:ext cx="11091672" cy="4892040"/>
          </a:xfrm>
          <a:prstGeom prst="rect">
            <a:avLst/>
          </a:prstGeom>
          <a:noFill/>
        </p:spPr>
        <p:txBody>
          <a:bodyPr wrap="square" lIns="0" tIns="0" rIns="0" bIns="0" rtlCol="0" anchor="t"/>
          <a:lstStyle/>
          <a:p>
            <a:pPr marL="0" indent="0">
              <a:lnSpc>
                <a:spcPct val="115000"/>
              </a:lnSpc>
              <a:spcAft>
                <a:spcPts val="800"/>
              </a:spcAft>
              <a:buNone/>
            </a:pPr>
            <a:r>
              <a:rPr lang="en-US" altLang="en-US" sz="1600" dirty="0"/>
              <a:t>The functional requirements describe the major functions that the Airline Management System should provide to passengers, administrators, and staff members.</a:t>
            </a:r>
            <a:endParaRPr lang="en-US" altLang="en-US" sz="1600" dirty="0"/>
          </a:p>
          <a:p>
            <a:pPr marL="0" indent="0">
              <a:lnSpc>
                <a:spcPct val="115000"/>
              </a:lnSpc>
              <a:spcAft>
                <a:spcPts val="800"/>
              </a:spcAft>
              <a:buNone/>
            </a:pPr>
            <a:r>
              <a:rPr lang="en-US" altLang="en-US" sz="1600" b="1" dirty="0">
                <a:solidFill>
                  <a:schemeClr val="accent1">
                    <a:lumMod val="75000"/>
                  </a:schemeClr>
                </a:solidFill>
              </a:rPr>
              <a:t>FR-01: User Login</a:t>
            </a:r>
            <a:endParaRPr lang="en-US" altLang="en-US" sz="1600" b="1" dirty="0">
              <a:solidFill>
                <a:schemeClr val="accent1">
                  <a:lumMod val="75000"/>
                </a:schemeClr>
              </a:solidFill>
            </a:endParaRPr>
          </a:p>
          <a:p>
            <a:pPr marL="285750" indent="-285750">
              <a:lnSpc>
                <a:spcPct val="115000"/>
              </a:lnSpc>
              <a:spcAft>
                <a:spcPts val="800"/>
              </a:spcAft>
              <a:buFont typeface="Arial" panose="020B0604020202020204" pitchFamily="34" charset="0"/>
              <a:buChar char="•"/>
            </a:pPr>
            <a:r>
              <a:rPr lang="en-US" altLang="en-US" sz="1600" dirty="0"/>
              <a:t>The system shall allow passengers, administrators, and staff members to log in using valid credentials. </a:t>
            </a:r>
            <a:endParaRPr lang="en-US" altLang="en-US" sz="1600" dirty="0"/>
          </a:p>
          <a:p>
            <a:pPr marL="285750" indent="-285750">
              <a:lnSpc>
                <a:spcPct val="115000"/>
              </a:lnSpc>
              <a:spcAft>
                <a:spcPts val="800"/>
              </a:spcAft>
              <a:buFont typeface="Arial" panose="020B0604020202020204" pitchFamily="34" charset="0"/>
              <a:buChar char="•"/>
            </a:pPr>
            <a:r>
              <a:rPr lang="en-US" altLang="en-US" sz="1600" dirty="0"/>
              <a:t>The system shall verify the entered username/email and password. </a:t>
            </a:r>
            <a:endParaRPr lang="en-US" altLang="en-US" sz="1600" dirty="0"/>
          </a:p>
          <a:p>
            <a:pPr marL="285750" indent="-285750">
              <a:lnSpc>
                <a:spcPct val="115000"/>
              </a:lnSpc>
              <a:spcAft>
                <a:spcPts val="800"/>
              </a:spcAft>
              <a:buFont typeface="Arial" panose="020B0604020202020204" pitchFamily="34" charset="0"/>
              <a:buChar char="•"/>
            </a:pPr>
            <a:r>
              <a:rPr lang="en-US" altLang="en-US" sz="1600" dirty="0"/>
              <a:t>The system shall display a login failed message when invalid credentials are entered. </a:t>
            </a:r>
            <a:endParaRPr lang="en-US" altLang="en-US" sz="1600" dirty="0"/>
          </a:p>
          <a:p>
            <a:pPr marL="285750" indent="-285750">
              <a:lnSpc>
                <a:spcPct val="115000"/>
              </a:lnSpc>
              <a:spcAft>
                <a:spcPts val="800"/>
              </a:spcAft>
              <a:buFont typeface="Arial" panose="020B0604020202020204" pitchFamily="34" charset="0"/>
              <a:buChar char="•"/>
            </a:pPr>
            <a:r>
              <a:rPr lang="en-US" altLang="en-US" sz="1600" dirty="0"/>
              <a:t>The system shall provide access according to the user's role. </a:t>
            </a:r>
            <a:endParaRPr lang="en-US" altLang="en-US" sz="1600" dirty="0"/>
          </a:p>
          <a:p>
            <a:pPr marL="0" indent="0">
              <a:lnSpc>
                <a:spcPct val="115000"/>
              </a:lnSpc>
              <a:spcAft>
                <a:spcPts val="800"/>
              </a:spcAft>
              <a:buNone/>
            </a:pPr>
            <a:r>
              <a:rPr lang="en-US" altLang="en-US" sz="1600" b="1" dirty="0">
                <a:solidFill>
                  <a:schemeClr val="accent1">
                    <a:lumMod val="75000"/>
                  </a:schemeClr>
                </a:solidFill>
              </a:rPr>
              <a:t>FR-02: Passenger Registration and Login</a:t>
            </a:r>
            <a:endParaRPr lang="en-US" altLang="en-US" sz="1600" b="1" dirty="0">
              <a:solidFill>
                <a:schemeClr val="accent1">
                  <a:lumMod val="75000"/>
                </a:schemeClr>
              </a:solidFill>
            </a:endParaRPr>
          </a:p>
          <a:p>
            <a:pPr marL="285750" indent="-285750">
              <a:lnSpc>
                <a:spcPct val="115000"/>
              </a:lnSpc>
              <a:spcAft>
                <a:spcPts val="800"/>
              </a:spcAft>
              <a:buFont typeface="Arial" panose="020B0604020202020204" pitchFamily="34" charset="0"/>
              <a:buChar char="•"/>
            </a:pPr>
            <a:r>
              <a:rPr lang="en-US" altLang="en-US" sz="1600" dirty="0"/>
              <a:t>The system shall allow passengers to create an account. </a:t>
            </a:r>
            <a:endParaRPr lang="en-US" altLang="en-US" sz="1600" dirty="0"/>
          </a:p>
          <a:p>
            <a:pPr marL="285750" indent="-285750">
              <a:lnSpc>
                <a:spcPct val="115000"/>
              </a:lnSpc>
              <a:spcAft>
                <a:spcPts val="800"/>
              </a:spcAft>
              <a:buFont typeface="Arial" panose="020B0604020202020204" pitchFamily="34" charset="0"/>
              <a:buChar char="•"/>
            </a:pPr>
            <a:r>
              <a:rPr lang="en-US" altLang="en-US" sz="1600" dirty="0"/>
              <a:t>The system shall store passenger details such as name, email, phone number, address, and password. </a:t>
            </a:r>
            <a:endParaRPr lang="en-US" altLang="en-US" sz="1600" dirty="0"/>
          </a:p>
          <a:p>
            <a:pPr marL="285750" indent="-285750">
              <a:lnSpc>
                <a:spcPct val="115000"/>
              </a:lnSpc>
              <a:spcAft>
                <a:spcPts val="800"/>
              </a:spcAft>
              <a:buFont typeface="Arial" panose="020B0604020202020204" pitchFamily="34" charset="0"/>
              <a:buChar char="•"/>
            </a:pPr>
            <a:r>
              <a:rPr lang="en-US" altLang="en-US" sz="1600" dirty="0"/>
              <a:t>The system shall authenticate passengers during login. </a:t>
            </a:r>
            <a:endParaRPr lang="en-US" altLang="en-US" sz="1600" dirty="0"/>
          </a:p>
          <a:p>
            <a:pPr marL="0" indent="0">
              <a:lnSpc>
                <a:spcPct val="115000"/>
              </a:lnSpc>
              <a:spcAft>
                <a:spcPts val="800"/>
              </a:spcAft>
              <a:buNone/>
            </a:pPr>
            <a:endParaRPr lang="en-US" altLang="en-US" sz="1600" dirty="0"/>
          </a:p>
        </p:txBody>
      </p:sp>
      <p:sp>
        <p:nvSpPr>
          <p:cNvPr id="6" name="Text 4"/>
          <p:cNvSpPr txBox="1"/>
          <p:nvPr/>
        </p:nvSpPr>
        <p:spPr>
          <a:xfrm>
            <a:off x="548640" y="6473952"/>
            <a:ext cx="6400800" cy="274320"/>
          </a:xfrm>
          <a:prstGeom prst="rect">
            <a:avLst/>
          </a:prstGeom>
          <a:noFill/>
        </p:spPr>
        <p:txBody>
          <a:bodyPr wrap="square" lIns="0" tIns="0" rIns="0" bIns="0" rtlCol="0" anchor="ctr"/>
          <a:lstStyle/>
          <a:p>
            <a:pPr marL="0" indent="0">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Airline Management System — SRS Presentation</a:t>
            </a:r>
            <a:endParaRPr lang="en-US" sz="900" dirty="0"/>
          </a:p>
        </p:txBody>
      </p:sp>
      <p:sp>
        <p:nvSpPr>
          <p:cNvPr id="7" name="Text 5"/>
          <p:cNvSpPr txBox="1"/>
          <p:nvPr/>
        </p:nvSpPr>
        <p:spPr>
          <a:xfrm>
            <a:off x="11183112" y="6473952"/>
            <a:ext cx="457200" cy="274320"/>
          </a:xfrm>
          <a:prstGeom prst="rect">
            <a:avLst/>
          </a:prstGeom>
          <a:noFill/>
        </p:spPr>
        <p:txBody>
          <a:bodyPr wrap="square" lIns="0" tIns="0" rIns="0" bIns="0" rtlCol="0" anchor="ctr"/>
          <a:lstStyle/>
          <a:p>
            <a:pPr marL="0" indent="0" algn="r">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85495" y="134620"/>
            <a:ext cx="10201910" cy="85363050"/>
          </a:xfrm>
          <a:prstGeom prst="rect">
            <a:avLst/>
          </a:prstGeom>
          <a:noFill/>
        </p:spPr>
        <p:txBody>
          <a:bodyPr wrap="square" rtlCol="0">
            <a:noAutofit/>
          </a:bodyPr>
          <a:p>
            <a:pPr marL="0" indent="0">
              <a:lnSpc>
                <a:spcPct val="115000"/>
              </a:lnSpc>
              <a:spcAft>
                <a:spcPts val="800"/>
              </a:spcAft>
              <a:buNone/>
            </a:pPr>
            <a:r>
              <a:rPr lang="en-US" altLang="en-US" b="1" dirty="0">
                <a:solidFill>
                  <a:schemeClr val="accent1">
                    <a:lumMod val="75000"/>
                  </a:schemeClr>
                </a:solidFill>
                <a:sym typeface="+mn-ea"/>
              </a:rPr>
              <a:t>FR-03: Search Flights</a:t>
            </a:r>
            <a:endParaRPr lang="en-US" altLang="en-US" b="1" dirty="0">
              <a:solidFill>
                <a:schemeClr val="accent1">
                  <a:lumMod val="75000"/>
                </a:schemeClr>
              </a:solidFill>
            </a:endParaRPr>
          </a:p>
          <a:p>
            <a:pPr marL="285750" indent="-285750">
              <a:lnSpc>
                <a:spcPct val="115000"/>
              </a:lnSpc>
              <a:spcAft>
                <a:spcPts val="800"/>
              </a:spcAft>
              <a:buFont typeface="Arial" panose="020B0604020202020204" pitchFamily="34" charset="0"/>
              <a:buChar char="•"/>
            </a:pPr>
            <a:r>
              <a:rPr lang="en-US" altLang="en-US" dirty="0">
                <a:sym typeface="+mn-ea"/>
              </a:rPr>
              <a:t>The system shall allow passengers to search for available flights.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Passengers shall be able to search flights using details such as departure, arrival, and travel date.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display the available flight details.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display the flight status and relevant schedule information. </a:t>
            </a:r>
            <a:endParaRPr lang="en-US" altLang="en-US" dirty="0"/>
          </a:p>
          <a:p>
            <a:pPr marL="0" indent="0">
              <a:lnSpc>
                <a:spcPct val="115000"/>
              </a:lnSpc>
              <a:spcAft>
                <a:spcPts val="800"/>
              </a:spcAft>
              <a:buNone/>
            </a:pPr>
            <a:r>
              <a:rPr lang="en-US" altLang="en-US" b="1" dirty="0">
                <a:solidFill>
                  <a:schemeClr val="accent1">
                    <a:lumMod val="75000"/>
                  </a:schemeClr>
                </a:solidFill>
                <a:sym typeface="+mn-ea"/>
              </a:rPr>
              <a:t>FR-04: Book Ticket</a:t>
            </a:r>
            <a:endParaRPr lang="en-US" altLang="en-US" b="1" dirty="0">
              <a:solidFill>
                <a:schemeClr val="accent1">
                  <a:lumMod val="75000"/>
                </a:schemeClr>
              </a:solidFill>
            </a:endParaRPr>
          </a:p>
          <a:p>
            <a:pPr marL="285750" indent="-285750">
              <a:lnSpc>
                <a:spcPct val="115000"/>
              </a:lnSpc>
              <a:spcAft>
                <a:spcPts val="800"/>
              </a:spcAft>
              <a:buFont typeface="Arial" panose="020B0604020202020204" pitchFamily="34" charset="0"/>
              <a:buChar char="•"/>
            </a:pPr>
            <a:r>
              <a:rPr lang="en-US" altLang="en-US" dirty="0">
                <a:sym typeface="+mn-ea"/>
              </a:rPr>
              <a:t>The system shall allow passengers to select an available flight and book a ticket.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collect the required passenger and booking information.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generate a booking after successful booking.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generate ticket details for the confirmed booking.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display a booking failed message if the booking cannot be completed. </a:t>
            </a:r>
            <a:endParaRPr lang="en-US" altLang="en-US" dirty="0"/>
          </a:p>
          <a:p>
            <a:pPr marL="0" indent="0">
              <a:lnSpc>
                <a:spcPct val="115000"/>
              </a:lnSpc>
              <a:spcAft>
                <a:spcPts val="800"/>
              </a:spcAft>
              <a:buNone/>
            </a:pPr>
            <a:r>
              <a:rPr lang="en-US" altLang="en-US" b="1" dirty="0">
                <a:solidFill>
                  <a:schemeClr val="accent1">
                    <a:lumMod val="75000"/>
                  </a:schemeClr>
                </a:solidFill>
                <a:sym typeface="+mn-ea"/>
              </a:rPr>
              <a:t>FR-05: Confirm Booking</a:t>
            </a:r>
            <a:endParaRPr lang="en-US" altLang="en-US" b="1" dirty="0">
              <a:solidFill>
                <a:schemeClr val="accent1">
                  <a:lumMod val="75000"/>
                </a:schemeClr>
              </a:solidFill>
            </a:endParaRPr>
          </a:p>
          <a:p>
            <a:pPr marL="285750" indent="-285750">
              <a:lnSpc>
                <a:spcPct val="115000"/>
              </a:lnSpc>
              <a:spcAft>
                <a:spcPts val="800"/>
              </a:spcAft>
              <a:buFont typeface="Arial" panose="020B0604020202020204" pitchFamily="34" charset="0"/>
              <a:buChar char="•"/>
            </a:pPr>
            <a:r>
              <a:rPr lang="en-US" altLang="en-US" dirty="0">
                <a:sym typeface="+mn-ea"/>
              </a:rPr>
              <a:t>The system shall allow passengers to confirm their selected booking.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store the booking details after confirmation.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generate a booking ID/ticket for a successful booking.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update the booking status. </a:t>
            </a:r>
            <a:endParaRPr lang="en-US" altLang="en-US" dirty="0"/>
          </a:p>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32410" y="257175"/>
            <a:ext cx="11959590" cy="74449305"/>
          </a:xfrm>
          <a:prstGeom prst="rect">
            <a:avLst/>
          </a:prstGeom>
          <a:noFill/>
        </p:spPr>
        <p:txBody>
          <a:bodyPr wrap="square" rtlCol="0">
            <a:noAutofit/>
          </a:bodyPr>
          <a:p>
            <a:pPr marL="0" indent="0">
              <a:lnSpc>
                <a:spcPct val="115000"/>
              </a:lnSpc>
              <a:spcAft>
                <a:spcPts val="800"/>
              </a:spcAft>
              <a:buNone/>
            </a:pPr>
            <a:r>
              <a:rPr lang="en-US" altLang="en-US" b="1" dirty="0">
                <a:solidFill>
                  <a:schemeClr val="accent1">
                    <a:lumMod val="75000"/>
                  </a:schemeClr>
                </a:solidFill>
                <a:sym typeface="+mn-ea"/>
              </a:rPr>
              <a:t>FR-06: View Booking</a:t>
            </a:r>
            <a:endParaRPr lang="en-US" altLang="en-US" b="1" dirty="0">
              <a:solidFill>
                <a:schemeClr val="accent1">
                  <a:lumMod val="75000"/>
                </a:schemeClr>
              </a:solidFill>
            </a:endParaRPr>
          </a:p>
          <a:p>
            <a:pPr marL="285750" indent="-285750">
              <a:lnSpc>
                <a:spcPct val="115000"/>
              </a:lnSpc>
              <a:spcAft>
                <a:spcPts val="800"/>
              </a:spcAft>
              <a:buFont typeface="Arial" panose="020B0604020202020204" pitchFamily="34" charset="0"/>
              <a:buChar char="•"/>
            </a:pPr>
            <a:r>
              <a:rPr lang="en-US" altLang="en-US" dirty="0">
                <a:sym typeface="+mn-ea"/>
              </a:rPr>
              <a:t>The system shall allow passengers to view their existing bookings.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display booking details such as booking ID, flight details, date, time, ticket details, and  booking status. </a:t>
            </a:r>
            <a:endParaRPr lang="en-US" altLang="en-US" dirty="0"/>
          </a:p>
          <a:p>
            <a:pPr marL="0" indent="0">
              <a:lnSpc>
                <a:spcPct val="115000"/>
              </a:lnSpc>
              <a:spcAft>
                <a:spcPts val="800"/>
              </a:spcAft>
              <a:buNone/>
            </a:pPr>
            <a:r>
              <a:rPr lang="en-US" altLang="en-US" b="1" dirty="0">
                <a:solidFill>
                  <a:schemeClr val="accent1">
                    <a:lumMod val="75000"/>
                  </a:schemeClr>
                </a:solidFill>
                <a:sym typeface="+mn-ea"/>
              </a:rPr>
              <a:t>FR-07: Cancel Booking</a:t>
            </a:r>
            <a:endParaRPr lang="en-US" altLang="en-US" b="1" dirty="0">
              <a:solidFill>
                <a:schemeClr val="accent1">
                  <a:lumMod val="75000"/>
                </a:schemeClr>
              </a:solidFill>
            </a:endParaRPr>
          </a:p>
          <a:p>
            <a:pPr marL="285750" indent="-285750">
              <a:lnSpc>
                <a:spcPct val="115000"/>
              </a:lnSpc>
              <a:spcAft>
                <a:spcPts val="800"/>
              </a:spcAft>
              <a:buFont typeface="Arial" panose="020B0604020202020204" pitchFamily="34" charset="0"/>
              <a:buChar char="•"/>
            </a:pPr>
            <a:r>
              <a:rPr lang="en-US" altLang="en-US" dirty="0">
                <a:sym typeface="+mn-ea"/>
              </a:rPr>
              <a:t>The system shall allow passengers to cancel an existing booking.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update the booking status after cancellation.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display the updated booking information. </a:t>
            </a:r>
            <a:endParaRPr lang="en-US" altLang="en-US" dirty="0"/>
          </a:p>
          <a:p>
            <a:pPr marL="0" indent="0">
              <a:lnSpc>
                <a:spcPct val="115000"/>
              </a:lnSpc>
              <a:spcAft>
                <a:spcPts val="800"/>
              </a:spcAft>
              <a:buNone/>
            </a:pPr>
            <a:endParaRPr lang="en-US" altLang="en-US" dirty="0"/>
          </a:p>
          <a:p>
            <a:pPr marL="0" indent="0" fontAlgn="t">
              <a:lnSpc>
                <a:spcPct val="115000"/>
              </a:lnSpc>
              <a:spcAft>
                <a:spcPts val="800"/>
              </a:spcAft>
              <a:buNone/>
            </a:pPr>
            <a:r>
              <a:rPr lang="en-US" altLang="en-US" sz="2000" b="1" u="sng" dirty="0">
                <a:solidFill>
                  <a:schemeClr val="accent1">
                    <a:lumMod val="75000"/>
                  </a:schemeClr>
                </a:solidFill>
                <a:sym typeface="+mn-ea"/>
              </a:rPr>
              <a:t>ADMIN</a:t>
            </a:r>
            <a:endParaRPr lang="en-US" altLang="en-US" dirty="0"/>
          </a:p>
          <a:p>
            <a:pPr marL="0" indent="0">
              <a:lnSpc>
                <a:spcPct val="115000"/>
              </a:lnSpc>
              <a:spcAft>
                <a:spcPts val="800"/>
              </a:spcAft>
              <a:buNone/>
            </a:pPr>
            <a:r>
              <a:rPr lang="en-US" altLang="en-US" b="1" dirty="0">
                <a:solidFill>
                  <a:schemeClr val="accent1">
                    <a:lumMod val="75000"/>
                  </a:schemeClr>
                </a:solidFill>
                <a:sym typeface="+mn-ea"/>
              </a:rPr>
              <a:t>FR-08: Admin Login</a:t>
            </a:r>
            <a:endParaRPr lang="en-US" altLang="en-US" b="1" dirty="0">
              <a:solidFill>
                <a:schemeClr val="accent1">
                  <a:lumMod val="75000"/>
                </a:schemeClr>
              </a:solidFill>
            </a:endParaRPr>
          </a:p>
          <a:p>
            <a:pPr marL="285750" indent="-285750">
              <a:lnSpc>
                <a:spcPct val="115000"/>
              </a:lnSpc>
              <a:spcAft>
                <a:spcPts val="800"/>
              </a:spcAft>
              <a:buFont typeface="Arial" panose="020B0604020202020204" pitchFamily="34" charset="0"/>
              <a:buChar char="•"/>
            </a:pPr>
            <a:r>
              <a:rPr lang="en-US" altLang="en-US" dirty="0">
                <a:sym typeface="+mn-ea"/>
              </a:rPr>
              <a:t>The system shall allow administrators to log in using valid administrator credentials.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verify administrator credentials.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provide access to administrator functions after successful login. </a:t>
            </a:r>
            <a:endParaRPr lang="en-US" altLang="en-US" dirty="0"/>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26110" y="164465"/>
            <a:ext cx="11279505" cy="64520445"/>
          </a:xfrm>
          <a:prstGeom prst="rect">
            <a:avLst/>
          </a:prstGeom>
          <a:noFill/>
        </p:spPr>
        <p:txBody>
          <a:bodyPr wrap="square" rtlCol="0">
            <a:noAutofit/>
          </a:bodyPr>
          <a:p>
            <a:pPr marL="0" indent="0">
              <a:lnSpc>
                <a:spcPct val="115000"/>
              </a:lnSpc>
              <a:spcAft>
                <a:spcPts val="800"/>
              </a:spcAft>
              <a:buNone/>
            </a:pPr>
            <a:r>
              <a:rPr lang="en-US" altLang="en-US" b="1" dirty="0">
                <a:solidFill>
                  <a:schemeClr val="accent1">
                    <a:lumMod val="75000"/>
                  </a:schemeClr>
                </a:solidFill>
                <a:sym typeface="+mn-ea"/>
              </a:rPr>
              <a:t>FR-10: Add Flight</a:t>
            </a:r>
            <a:endParaRPr lang="en-US" altLang="en-US" b="1" dirty="0">
              <a:solidFill>
                <a:schemeClr val="accent1">
                  <a:lumMod val="75000"/>
                </a:schemeClr>
              </a:solidFill>
            </a:endParaRPr>
          </a:p>
          <a:p>
            <a:pPr marL="285750" indent="-285750">
              <a:lnSpc>
                <a:spcPct val="115000"/>
              </a:lnSpc>
              <a:spcAft>
                <a:spcPts val="800"/>
              </a:spcAft>
              <a:buFont typeface="Arial" panose="020B0604020202020204" pitchFamily="34" charset="0"/>
              <a:buChar char="•"/>
            </a:pPr>
            <a:r>
              <a:rPr lang="en-US" altLang="en-US" dirty="0">
                <a:sym typeface="+mn-ea"/>
              </a:rPr>
              <a:t>The administrator shall be able to add a new flight.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store details such as flight number, departure, arrival, departure time, arrival time, and status.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newly added flight shall become available for passengers to search. </a:t>
            </a:r>
            <a:endParaRPr lang="en-US" altLang="en-US" dirty="0"/>
          </a:p>
          <a:p>
            <a:pPr marL="0" indent="0">
              <a:lnSpc>
                <a:spcPct val="115000"/>
              </a:lnSpc>
              <a:spcAft>
                <a:spcPts val="800"/>
              </a:spcAft>
              <a:buNone/>
            </a:pPr>
            <a:r>
              <a:rPr lang="en-US" altLang="en-US" b="1" dirty="0">
                <a:solidFill>
                  <a:schemeClr val="accent1">
                    <a:lumMod val="75000"/>
                  </a:schemeClr>
                </a:solidFill>
                <a:sym typeface="+mn-ea"/>
              </a:rPr>
              <a:t>FR-11: Update Flight Details</a:t>
            </a:r>
            <a:endParaRPr lang="en-US" altLang="en-US" b="1" dirty="0">
              <a:solidFill>
                <a:schemeClr val="accent1">
                  <a:lumMod val="75000"/>
                </a:schemeClr>
              </a:solidFill>
            </a:endParaRPr>
          </a:p>
          <a:p>
            <a:pPr marL="285750" indent="-285750">
              <a:lnSpc>
                <a:spcPct val="115000"/>
              </a:lnSpc>
              <a:spcAft>
                <a:spcPts val="800"/>
              </a:spcAft>
              <a:buFont typeface="Arial" panose="020B0604020202020204" pitchFamily="34" charset="0"/>
              <a:buChar char="•"/>
            </a:pPr>
            <a:r>
              <a:rPr lang="en-US" altLang="en-US" dirty="0">
                <a:sym typeface="+mn-ea"/>
              </a:rPr>
              <a:t>The administrator shall be able to modify existing flight information.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update the modified information in the database.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Updated information shall be displayed to passengers when they search for flights. </a:t>
            </a:r>
            <a:endParaRPr lang="en-US" altLang="en-US" dirty="0">
              <a:sym typeface="+mn-ea"/>
            </a:endParaRPr>
          </a:p>
          <a:p>
            <a:pPr indent="0">
              <a:lnSpc>
                <a:spcPct val="115000"/>
              </a:lnSpc>
              <a:spcAft>
                <a:spcPts val="800"/>
              </a:spcAft>
              <a:buFont typeface="Arial" panose="020B0604020202020204" pitchFamily="34" charset="0"/>
              <a:buNone/>
            </a:pPr>
            <a:endParaRPr lang="en-US" altLang="en-US" dirty="0">
              <a:sym typeface="+mn-ea"/>
            </a:endParaRPr>
          </a:p>
          <a:p>
            <a:pPr marL="0" indent="0">
              <a:lnSpc>
                <a:spcPct val="115000"/>
              </a:lnSpc>
              <a:spcAft>
                <a:spcPts val="800"/>
              </a:spcAft>
              <a:buNone/>
            </a:pPr>
            <a:r>
              <a:rPr lang="en-US" altLang="en-US" b="1" dirty="0">
                <a:solidFill>
                  <a:schemeClr val="accent1">
                    <a:lumMod val="75000"/>
                  </a:schemeClr>
                </a:solidFill>
                <a:sym typeface="+mn-ea"/>
              </a:rPr>
              <a:t>FR-12: Delete Flight</a:t>
            </a:r>
            <a:endParaRPr lang="en-US" altLang="en-US" b="1" dirty="0">
              <a:solidFill>
                <a:schemeClr val="accent1">
                  <a:lumMod val="75000"/>
                </a:schemeClr>
              </a:solidFill>
            </a:endParaRPr>
          </a:p>
          <a:p>
            <a:pPr marL="285750" indent="-285750">
              <a:lnSpc>
                <a:spcPct val="115000"/>
              </a:lnSpc>
              <a:spcAft>
                <a:spcPts val="800"/>
              </a:spcAft>
              <a:buFont typeface="Arial" panose="020B0604020202020204" pitchFamily="34" charset="0"/>
              <a:buChar char="•"/>
            </a:pPr>
            <a:r>
              <a:rPr lang="en-US" altLang="en-US" dirty="0">
                <a:sym typeface="+mn-ea"/>
              </a:rPr>
              <a:t>The administrator shall be able to delete a flight from the system.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remove or deactivate the selected flight.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Deleted/inactive flights shall not be available for new bookings. </a:t>
            </a:r>
            <a:endParaRPr lang="en-US" altLang="en-US" dirty="0"/>
          </a:p>
          <a:p>
            <a:pPr indent="0">
              <a:lnSpc>
                <a:spcPct val="115000"/>
              </a:lnSpc>
              <a:spcAft>
                <a:spcPts val="800"/>
              </a:spcAft>
              <a:buFont typeface="Arial" panose="020B0604020202020204" pitchFamily="34" charset="0"/>
              <a:buNone/>
            </a:pPr>
            <a:endParaRPr lang="en-US" altLang="en-US" dirty="0"/>
          </a:p>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10540" y="156845"/>
            <a:ext cx="11462385" cy="55010050"/>
          </a:xfrm>
          <a:prstGeom prst="rect">
            <a:avLst/>
          </a:prstGeom>
          <a:noFill/>
        </p:spPr>
        <p:txBody>
          <a:bodyPr wrap="square" rtlCol="0">
            <a:noAutofit/>
          </a:bodyPr>
          <a:p>
            <a:pPr marL="0" indent="0">
              <a:lnSpc>
                <a:spcPct val="115000"/>
              </a:lnSpc>
              <a:spcAft>
                <a:spcPts val="800"/>
              </a:spcAft>
              <a:buNone/>
            </a:pPr>
            <a:r>
              <a:rPr lang="en-US" altLang="en-US" b="1" dirty="0">
                <a:solidFill>
                  <a:schemeClr val="accent1">
                    <a:lumMod val="75000"/>
                  </a:schemeClr>
                </a:solidFill>
                <a:sym typeface="+mn-ea"/>
              </a:rPr>
              <a:t>FR-14: Add Staff</a:t>
            </a:r>
            <a:endParaRPr lang="en-US" altLang="en-US" b="1" dirty="0">
              <a:solidFill>
                <a:schemeClr val="accent1">
                  <a:lumMod val="75000"/>
                </a:schemeClr>
              </a:solidFill>
            </a:endParaRPr>
          </a:p>
          <a:p>
            <a:pPr marL="285750" indent="-285750">
              <a:lnSpc>
                <a:spcPct val="115000"/>
              </a:lnSpc>
              <a:spcAft>
                <a:spcPts val="800"/>
              </a:spcAft>
              <a:buFont typeface="Arial" panose="020B0604020202020204" pitchFamily="34" charset="0"/>
              <a:buChar char="•"/>
            </a:pPr>
            <a:r>
              <a:rPr lang="en-US" altLang="en-US" dirty="0">
                <a:sym typeface="+mn-ea"/>
              </a:rPr>
              <a:t>The administrator shall be able to add new staff members.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store staff details such as staff ID, name, phone number, address, and role. </a:t>
            </a:r>
            <a:endParaRPr lang="en-US" altLang="en-US" dirty="0"/>
          </a:p>
          <a:p>
            <a:pPr marL="0" indent="0">
              <a:lnSpc>
                <a:spcPct val="115000"/>
              </a:lnSpc>
              <a:spcAft>
                <a:spcPts val="800"/>
              </a:spcAft>
              <a:buNone/>
            </a:pPr>
            <a:r>
              <a:rPr lang="en-US" altLang="en-US" b="1" dirty="0">
                <a:solidFill>
                  <a:schemeClr val="accent1">
                    <a:lumMod val="75000"/>
                  </a:schemeClr>
                </a:solidFill>
                <a:sym typeface="+mn-ea"/>
              </a:rPr>
              <a:t>FR-15: Update Staff Details</a:t>
            </a:r>
            <a:endParaRPr lang="en-US" altLang="en-US" b="1" dirty="0">
              <a:solidFill>
                <a:schemeClr val="accent1">
                  <a:lumMod val="75000"/>
                </a:schemeClr>
              </a:solidFill>
            </a:endParaRPr>
          </a:p>
          <a:p>
            <a:pPr marL="285750" indent="-285750">
              <a:lnSpc>
                <a:spcPct val="115000"/>
              </a:lnSpc>
              <a:spcAft>
                <a:spcPts val="800"/>
              </a:spcAft>
              <a:buFont typeface="Arial" panose="020B0604020202020204" pitchFamily="34" charset="0"/>
              <a:buChar char="•"/>
            </a:pPr>
            <a:r>
              <a:rPr lang="en-US" altLang="en-US" dirty="0">
                <a:sym typeface="+mn-ea"/>
              </a:rPr>
              <a:t>The administrator shall be able to modify staff information.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update the modified staff details. </a:t>
            </a:r>
            <a:endParaRPr lang="en-US" altLang="en-US" dirty="0"/>
          </a:p>
          <a:p>
            <a:pPr marL="0" indent="0">
              <a:lnSpc>
                <a:spcPct val="115000"/>
              </a:lnSpc>
              <a:spcAft>
                <a:spcPts val="800"/>
              </a:spcAft>
              <a:buNone/>
            </a:pPr>
            <a:r>
              <a:rPr lang="en-US" altLang="en-US" b="1" dirty="0">
                <a:solidFill>
                  <a:schemeClr val="accent1">
                    <a:lumMod val="75000"/>
                  </a:schemeClr>
                </a:solidFill>
                <a:sym typeface="+mn-ea"/>
              </a:rPr>
              <a:t>FR-16: Delete Staff</a:t>
            </a:r>
            <a:endParaRPr lang="en-US" altLang="en-US" b="1" dirty="0">
              <a:solidFill>
                <a:schemeClr val="accent1">
                  <a:lumMod val="75000"/>
                </a:schemeClr>
              </a:solidFill>
            </a:endParaRPr>
          </a:p>
          <a:p>
            <a:pPr marL="285750" indent="-285750">
              <a:lnSpc>
                <a:spcPct val="115000"/>
              </a:lnSpc>
              <a:spcAft>
                <a:spcPts val="800"/>
              </a:spcAft>
              <a:buFont typeface="Arial" panose="020B0604020202020204" pitchFamily="34" charset="0"/>
              <a:buChar char="•"/>
            </a:pPr>
            <a:r>
              <a:rPr lang="en-US" altLang="en-US" dirty="0">
                <a:sym typeface="+mn-ea"/>
              </a:rPr>
              <a:t>The administrator shall be able to remove staff members from the system.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update the staff records accordingly. </a:t>
            </a:r>
            <a:endParaRPr lang="en-US" altLang="en-US" dirty="0">
              <a:sym typeface="+mn-ea"/>
            </a:endParaRPr>
          </a:p>
          <a:p>
            <a:pPr marL="0" indent="0">
              <a:lnSpc>
                <a:spcPct val="115000"/>
              </a:lnSpc>
              <a:spcAft>
                <a:spcPts val="800"/>
              </a:spcAft>
              <a:buNone/>
            </a:pPr>
            <a:r>
              <a:rPr lang="en-US" altLang="en-US" b="1" dirty="0">
                <a:solidFill>
                  <a:schemeClr val="accent1">
                    <a:lumMod val="75000"/>
                  </a:schemeClr>
                </a:solidFill>
                <a:sym typeface="+mn-ea"/>
              </a:rPr>
              <a:t>FR-17: Assign Staff Schedule</a:t>
            </a:r>
            <a:endParaRPr lang="en-US" altLang="en-US" b="1" dirty="0">
              <a:solidFill>
                <a:schemeClr val="accent1">
                  <a:lumMod val="75000"/>
                </a:schemeClr>
              </a:solidFill>
            </a:endParaRPr>
          </a:p>
          <a:p>
            <a:pPr marL="285750" indent="-285750">
              <a:lnSpc>
                <a:spcPct val="115000"/>
              </a:lnSpc>
              <a:spcAft>
                <a:spcPts val="800"/>
              </a:spcAft>
              <a:buFont typeface="Arial" panose="020B0604020202020204" pitchFamily="34" charset="0"/>
              <a:buChar char="•"/>
            </a:pPr>
            <a:r>
              <a:rPr lang="en-US" altLang="en-US" dirty="0">
                <a:sym typeface="+mn-ea"/>
              </a:rPr>
              <a:t>The administrator shall be able to assign staff members to flights/schedules.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maintain the assigned schedule.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assigned schedule shall be available for the corresponding staff member to view. </a:t>
            </a:r>
            <a:endParaRPr lang="en-US" altLang="en-US" dirty="0">
              <a:sym typeface="+mn-ea"/>
            </a:endParaRPr>
          </a:p>
          <a:p>
            <a:pPr marL="285750" indent="-285750">
              <a:lnSpc>
                <a:spcPct val="115000"/>
              </a:lnSpc>
              <a:spcAft>
                <a:spcPts val="800"/>
              </a:spcAft>
              <a:buFont typeface="Arial" panose="020B0604020202020204" pitchFamily="34" charset="0"/>
              <a:buChar char="•"/>
            </a:pP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46710" y="414655"/>
            <a:ext cx="11845290" cy="46842680"/>
          </a:xfrm>
          <a:prstGeom prst="rect">
            <a:avLst/>
          </a:prstGeom>
          <a:noFill/>
        </p:spPr>
        <p:txBody>
          <a:bodyPr wrap="square" rtlCol="0">
            <a:noAutofit/>
          </a:bodyPr>
          <a:p>
            <a:pPr marL="0" indent="0">
              <a:lnSpc>
                <a:spcPct val="115000"/>
              </a:lnSpc>
              <a:spcAft>
                <a:spcPts val="800"/>
              </a:spcAft>
              <a:buNone/>
            </a:pPr>
            <a:endParaRPr lang="en-US" altLang="en-US" dirty="0"/>
          </a:p>
          <a:p>
            <a:pPr marL="0" indent="0">
              <a:lnSpc>
                <a:spcPct val="115000"/>
              </a:lnSpc>
              <a:spcAft>
                <a:spcPts val="800"/>
              </a:spcAft>
              <a:buNone/>
            </a:pPr>
            <a:r>
              <a:rPr lang="en-US" altLang="en-US" b="1" dirty="0">
                <a:solidFill>
                  <a:schemeClr val="accent1">
                    <a:lumMod val="75000"/>
                  </a:schemeClr>
                </a:solidFill>
                <a:sym typeface="+mn-ea"/>
              </a:rPr>
              <a:t>FR-18: View Bookings</a:t>
            </a:r>
            <a:endParaRPr lang="en-US" altLang="en-US" b="1" dirty="0">
              <a:solidFill>
                <a:schemeClr val="accent1">
                  <a:lumMod val="75000"/>
                </a:schemeClr>
              </a:solidFill>
            </a:endParaRPr>
          </a:p>
          <a:p>
            <a:pPr marL="285750" indent="-285750">
              <a:lnSpc>
                <a:spcPct val="115000"/>
              </a:lnSpc>
              <a:spcAft>
                <a:spcPts val="800"/>
              </a:spcAft>
              <a:buFont typeface="Arial" panose="020B0604020202020204" pitchFamily="34" charset="0"/>
              <a:buChar char="•"/>
            </a:pPr>
            <a:r>
              <a:rPr lang="en-US" altLang="en-US" dirty="0">
                <a:sym typeface="+mn-ea"/>
              </a:rPr>
              <a:t>The administrator shall be able to view passenger bookings.</a:t>
            </a:r>
            <a:endParaRPr lang="en-US" altLang="en-US" dirty="0">
              <a:sym typeface="+mn-ea"/>
            </a:endParaRPr>
          </a:p>
          <a:p>
            <a:pPr marL="285750" indent="-285750">
              <a:lnSpc>
                <a:spcPct val="115000"/>
              </a:lnSpc>
              <a:spcAft>
                <a:spcPts val="800"/>
              </a:spcAft>
              <a:buFont typeface="Arial" panose="020B0604020202020204" pitchFamily="34" charset="0"/>
              <a:buChar char="•"/>
            </a:pPr>
            <a:r>
              <a:rPr lang="en-US" altLang="en-US" dirty="0">
                <a:sym typeface="+mn-ea"/>
              </a:rPr>
              <a:t>The system shall display booking information such as passenger details, flight details, booking ID, ticket details, and booking status </a:t>
            </a:r>
            <a:endParaRPr lang="en-US" altLang="en-US" dirty="0">
              <a:sym typeface="+mn-ea"/>
            </a:endParaRPr>
          </a:p>
          <a:p>
            <a:pPr indent="0">
              <a:lnSpc>
                <a:spcPct val="115000"/>
              </a:lnSpc>
              <a:spcAft>
                <a:spcPts val="800"/>
              </a:spcAft>
              <a:buFont typeface="Arial" panose="020B0604020202020204" pitchFamily="34" charset="0"/>
              <a:buNone/>
            </a:pPr>
            <a:endParaRPr lang="en-US" altLang="en-US" dirty="0">
              <a:sym typeface="+mn-ea"/>
            </a:endParaRPr>
          </a:p>
          <a:p>
            <a:pPr marL="0" indent="0">
              <a:lnSpc>
                <a:spcPct val="115000"/>
              </a:lnSpc>
              <a:spcAft>
                <a:spcPts val="800"/>
              </a:spcAft>
              <a:buNone/>
            </a:pPr>
            <a:r>
              <a:rPr lang="en-US" altLang="en-US" b="1" u="sng" dirty="0">
                <a:solidFill>
                  <a:schemeClr val="accent1">
                    <a:lumMod val="75000"/>
                  </a:schemeClr>
                </a:solidFill>
                <a:sym typeface="+mn-ea"/>
              </a:rPr>
              <a:t>STAFF</a:t>
            </a:r>
            <a:endParaRPr lang="en-US" altLang="en-US" dirty="0"/>
          </a:p>
          <a:p>
            <a:pPr marL="0" indent="0">
              <a:lnSpc>
                <a:spcPct val="115000"/>
              </a:lnSpc>
              <a:spcAft>
                <a:spcPts val="800"/>
              </a:spcAft>
              <a:buNone/>
            </a:pPr>
            <a:r>
              <a:rPr lang="en-US" altLang="en-US" b="1" dirty="0">
                <a:solidFill>
                  <a:schemeClr val="accent1">
                    <a:lumMod val="75000"/>
                  </a:schemeClr>
                </a:solidFill>
                <a:sym typeface="+mn-ea"/>
              </a:rPr>
              <a:t>FR-20: Staff Login</a:t>
            </a:r>
            <a:endParaRPr lang="en-US" altLang="en-US" b="1" dirty="0">
              <a:solidFill>
                <a:schemeClr val="accent1">
                  <a:lumMod val="75000"/>
                </a:schemeClr>
              </a:solidFill>
            </a:endParaRPr>
          </a:p>
          <a:p>
            <a:pPr marL="285750" indent="-285750">
              <a:lnSpc>
                <a:spcPct val="115000"/>
              </a:lnSpc>
              <a:spcAft>
                <a:spcPts val="800"/>
              </a:spcAft>
              <a:buFont typeface="Arial" panose="020B0604020202020204" pitchFamily="34" charset="0"/>
              <a:buChar char="•"/>
            </a:pPr>
            <a:r>
              <a:rPr lang="en-US" altLang="en-US" dirty="0">
                <a:sym typeface="+mn-ea"/>
              </a:rPr>
              <a:t>The system shall allow staff members to log in using valid credentials.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verify the staff credentials.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system shall provide access to staff-specific functions after successful login. </a:t>
            </a:r>
            <a:endParaRPr lang="en-US" altLang="en-US" dirty="0"/>
          </a:p>
          <a:p>
            <a:pPr marL="0" indent="0">
              <a:lnSpc>
                <a:spcPct val="115000"/>
              </a:lnSpc>
              <a:spcAft>
                <a:spcPts val="800"/>
              </a:spcAft>
              <a:buNone/>
            </a:pPr>
            <a:r>
              <a:rPr lang="en-US" altLang="en-US" dirty="0">
                <a:sym typeface="+mn-ea"/>
              </a:rPr>
              <a:t> </a:t>
            </a:r>
            <a:endParaRPr lang="en-US" altLang="en-US" dirty="0"/>
          </a:p>
          <a:p>
            <a:pPr marL="285750" indent="-285750">
              <a:lnSpc>
                <a:spcPct val="115000"/>
              </a:lnSpc>
              <a:spcAft>
                <a:spcPts val="800"/>
              </a:spcAft>
              <a:buFont typeface="Arial" panose="020B0604020202020204" pitchFamily="34" charset="0"/>
              <a:buChar char="•"/>
            </a:pPr>
            <a:endParaRPr lang="en-US" altLang="en-US" dirty="0"/>
          </a:p>
          <a:p>
            <a:pPr marL="285750" indent="-285750">
              <a:lnSpc>
                <a:spcPct val="115000"/>
              </a:lnSpc>
              <a:spcAft>
                <a:spcPts val="800"/>
              </a:spcAft>
              <a:buFont typeface="Arial" panose="020B0604020202020204" pitchFamily="34" charset="0"/>
              <a:buChar char="•"/>
            </a:pPr>
            <a:endParaRPr lang="en-US" altLang="en-US" dirty="0"/>
          </a:p>
          <a:p>
            <a:pPr marL="0" indent="0">
              <a:lnSpc>
                <a:spcPct val="115000"/>
              </a:lnSpc>
              <a:spcAft>
                <a:spcPts val="800"/>
              </a:spcAft>
              <a:buNone/>
            </a:pP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15290" y="177800"/>
            <a:ext cx="11287760" cy="23933150"/>
          </a:xfrm>
          <a:prstGeom prst="rect">
            <a:avLst/>
          </a:prstGeom>
          <a:noFill/>
        </p:spPr>
        <p:txBody>
          <a:bodyPr wrap="square" rtlCol="0">
            <a:noAutofit/>
          </a:bodyPr>
          <a:p>
            <a:pPr marL="0" indent="0">
              <a:lnSpc>
                <a:spcPct val="115000"/>
              </a:lnSpc>
              <a:spcAft>
                <a:spcPts val="800"/>
              </a:spcAft>
              <a:buNone/>
            </a:pPr>
            <a:r>
              <a:rPr lang="en-US" altLang="en-US" b="1" dirty="0">
                <a:solidFill>
                  <a:schemeClr val="accent1">
                    <a:lumMod val="75000"/>
                  </a:schemeClr>
                </a:solidFill>
                <a:sym typeface="+mn-ea"/>
              </a:rPr>
              <a:t>FR-21: View Assigned Schedule</a:t>
            </a:r>
            <a:endParaRPr lang="en-US" altLang="en-US" b="1" dirty="0">
              <a:solidFill>
                <a:schemeClr val="accent1">
                  <a:lumMod val="75000"/>
                </a:schemeClr>
              </a:solidFill>
            </a:endParaRPr>
          </a:p>
          <a:p>
            <a:pPr marL="285750" indent="-285750">
              <a:lnSpc>
                <a:spcPct val="115000"/>
              </a:lnSpc>
              <a:spcAft>
                <a:spcPts val="800"/>
              </a:spcAft>
              <a:buFont typeface="Arial" panose="020B0604020202020204" pitchFamily="34" charset="0"/>
              <a:buChar char="•"/>
            </a:pPr>
            <a:r>
              <a:rPr lang="en-US" altLang="en-US" dirty="0">
                <a:sym typeface="+mn-ea"/>
              </a:rPr>
              <a:t>The system shall allow staff members to view their assigned schedules.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The schedule shall contain relevant flight/date/time information. </a:t>
            </a:r>
            <a:endParaRPr lang="en-US" altLang="en-US" dirty="0"/>
          </a:p>
          <a:p>
            <a:pPr marL="285750" indent="-285750">
              <a:lnSpc>
                <a:spcPct val="115000"/>
              </a:lnSpc>
              <a:spcAft>
                <a:spcPts val="800"/>
              </a:spcAft>
              <a:buFont typeface="Arial" panose="020B0604020202020204" pitchFamily="34" charset="0"/>
              <a:buChar char="•"/>
            </a:pPr>
            <a:r>
              <a:rPr lang="en-US" altLang="en-US" dirty="0">
                <a:sym typeface="+mn-ea"/>
              </a:rPr>
              <a:t>Staff members shall only be able to view schedules assigned to them.</a:t>
            </a:r>
            <a:endParaRPr lang="en-US" altLang="en-US" b="1" dirty="0">
              <a:solidFill>
                <a:schemeClr val="accent1">
                  <a:lumMod val="75000"/>
                </a:schemeClr>
              </a:solidFill>
              <a:sym typeface="+mn-ea"/>
            </a:endParaRPr>
          </a:p>
          <a:p>
            <a:pPr marL="0" indent="0">
              <a:lnSpc>
                <a:spcPct val="115000"/>
              </a:lnSpc>
              <a:spcAft>
                <a:spcPts val="800"/>
              </a:spcAft>
              <a:buNone/>
            </a:pPr>
            <a:endParaRPr lang="en-US" altLang="en-US" b="1" dirty="0">
              <a:solidFill>
                <a:schemeClr val="accent1">
                  <a:lumMod val="75000"/>
                </a:schemeClr>
              </a:solidFill>
              <a:sym typeface="+mn-ea"/>
            </a:endParaRPr>
          </a:p>
          <a:p>
            <a:pPr indent="0">
              <a:lnSpc>
                <a:spcPct val="115000"/>
              </a:lnSpc>
              <a:spcAft>
                <a:spcPts val="800"/>
              </a:spcAft>
              <a:buFont typeface="Arial" panose="020B0604020202020204" pitchFamily="34" charset="0"/>
              <a:buNone/>
            </a:pPr>
            <a:endParaRPr lang="en-US" altLang="en-US" dirty="0"/>
          </a:p>
          <a:p>
            <a:pPr marL="0" indent="0">
              <a:lnSpc>
                <a:spcPct val="115000"/>
              </a:lnSpc>
              <a:spcAft>
                <a:spcPts val="800"/>
              </a:spcAft>
              <a:buNone/>
            </a:pPr>
            <a:endParaRPr lang="en-US" altLang="en-US" dirty="0"/>
          </a:p>
          <a:p>
            <a:pPr marL="0" indent="0">
              <a:lnSpc>
                <a:spcPct val="115000"/>
              </a:lnSpc>
              <a:spcAft>
                <a:spcPts val="800"/>
              </a:spcAft>
              <a:buNone/>
            </a:pPr>
            <a:endParaRPr lang="en-US" altLang="en-US" dirty="0"/>
          </a:p>
          <a:p>
            <a:endParaRPr lang="en-US"/>
          </a:p>
          <a:p>
            <a:endParaRPr lang="en-US"/>
          </a:p>
          <a:p>
            <a:endParaRPr lang="en-US"/>
          </a:p>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p:spPr>
        <p:txBody>
          <a:bodyPr wrap="square" lIns="0" tIns="0" rIns="0" bIns="0" rtlCol="0" anchor="ctr"/>
          <a:lstStyle/>
          <a:p>
            <a:pPr marL="0" indent="0">
              <a:buNone/>
            </a:pPr>
            <a:endParaRPr lang="en-US" sz="1200" dirty="0"/>
          </a:p>
        </p:txBody>
      </p:sp>
      <p:sp>
        <p:nvSpPr>
          <p:cNvPr id="3" name="Text 1"/>
          <p:cNvSpPr txBox="1"/>
          <p:nvPr/>
        </p:nvSpPr>
        <p:spPr>
          <a:xfrm>
            <a:off x="548640" y="566928"/>
            <a:ext cx="11091672" cy="640080"/>
          </a:xfrm>
          <a:prstGeom prst="rect">
            <a:avLst/>
          </a:prstGeom>
          <a:noFill/>
        </p:spPr>
        <p:txBody>
          <a:bodyPr wrap="square" lIns="0" tIns="0" rIns="0" bIns="0" rtlCol="0" anchor="ctr"/>
          <a:lstStyle/>
          <a:p>
            <a:pPr marL="0" indent="0">
              <a:buNone/>
            </a:pPr>
            <a:r>
              <a:rPr lang="en-US" altLang="en-US" sz="3000" b="1" dirty="0">
                <a:solidFill>
                  <a:schemeClr val="accent1">
                    <a:lumMod val="75000"/>
                  </a:schemeClr>
                </a:solidFill>
                <a:sym typeface="+mn-ea"/>
              </a:rPr>
              <a:t>NON-FUNCTIONAL REQUIREMENTS</a:t>
            </a:r>
            <a:endParaRPr lang="en-US" altLang="en-US" sz="3000" b="1" dirty="0">
              <a:solidFill>
                <a:schemeClr val="accent1">
                  <a:lumMod val="75000"/>
                </a:schemeClr>
              </a:solidFill>
              <a:sym typeface="+mn-ea"/>
            </a:endParaRPr>
          </a:p>
        </p:txBody>
      </p:sp>
      <p:sp>
        <p:nvSpPr>
          <p:cNvPr id="4" name="Shape 2"/>
          <p:cNvSpPr/>
          <p:nvPr/>
        </p:nvSpPr>
        <p:spPr>
          <a:xfrm>
            <a:off x="548640" y="1170432"/>
            <a:ext cx="11091672" cy="0"/>
          </a:xfrm>
          <a:prstGeom prst="line">
            <a:avLst/>
          </a:prstGeom>
          <a:noFill/>
          <a:ln w="12700">
            <a:solidFill>
              <a:srgbClr val="D9D9D9"/>
            </a:solidFill>
            <a:prstDash val="solid"/>
          </a:ln>
        </p:spPr>
      </p:sp>
      <p:sp>
        <p:nvSpPr>
          <p:cNvPr id="5" name="Text 3"/>
          <p:cNvSpPr txBox="1"/>
          <p:nvPr/>
        </p:nvSpPr>
        <p:spPr>
          <a:xfrm>
            <a:off x="548640" y="1417320"/>
            <a:ext cx="11091672" cy="4892040"/>
          </a:xfrm>
          <a:prstGeom prst="rect">
            <a:avLst/>
          </a:prstGeom>
          <a:noFill/>
        </p:spPr>
        <p:txBody>
          <a:bodyPr wrap="square" lIns="0" tIns="0" rIns="0" bIns="0" rtlCol="0" anchor="t"/>
          <a:lstStyle/>
          <a:p>
            <a:pPr marL="0" indent="0">
              <a:lnSpc>
                <a:spcPct val="115000"/>
              </a:lnSpc>
              <a:spcAft>
                <a:spcPts val="800"/>
              </a:spcAft>
              <a:buNone/>
            </a:pPr>
            <a:r>
              <a:rPr lang="en-US" altLang="en-US" b="1" dirty="0">
                <a:solidFill>
                  <a:schemeClr val="accent1">
                    <a:lumMod val="75000"/>
                  </a:schemeClr>
                </a:solidFill>
              </a:rPr>
              <a:t>NFR1: Performance</a:t>
            </a:r>
            <a:endParaRPr lang="en-US" altLang="en-US" b="1" dirty="0">
              <a:solidFill>
                <a:schemeClr val="accent1">
                  <a:lumMod val="75000"/>
                </a:schemeClr>
              </a:solidFill>
            </a:endParaRPr>
          </a:p>
          <a:p>
            <a:pPr marL="0" indent="0">
              <a:lnSpc>
                <a:spcPct val="115000"/>
              </a:lnSpc>
              <a:spcAft>
                <a:spcPts val="800"/>
              </a:spcAft>
              <a:buNone/>
            </a:pPr>
            <a:r>
              <a:rPr lang="en-US" altLang="en-US" dirty="0"/>
              <a:t>The system shall provide quick responses when users search for flights, view schedules, make bookings, or cancel bookings.</a:t>
            </a:r>
            <a:endParaRPr lang="en-US" altLang="en-US" dirty="0"/>
          </a:p>
          <a:p>
            <a:pPr marL="0" indent="0">
              <a:lnSpc>
                <a:spcPct val="115000"/>
              </a:lnSpc>
              <a:spcAft>
                <a:spcPts val="800"/>
              </a:spcAft>
              <a:buNone/>
            </a:pPr>
            <a:r>
              <a:rPr lang="en-US" altLang="en-US" b="1" dirty="0">
                <a:solidFill>
                  <a:schemeClr val="accent1">
                    <a:lumMod val="75000"/>
                  </a:schemeClr>
                </a:solidFill>
              </a:rPr>
              <a:t>NFR2: Reliability</a:t>
            </a:r>
            <a:endParaRPr lang="en-US" altLang="en-US" b="1" dirty="0">
              <a:solidFill>
                <a:schemeClr val="accent1">
                  <a:lumMod val="75000"/>
                </a:schemeClr>
              </a:solidFill>
            </a:endParaRPr>
          </a:p>
          <a:p>
            <a:pPr marL="0" indent="0">
              <a:lnSpc>
                <a:spcPct val="115000"/>
              </a:lnSpc>
              <a:spcAft>
                <a:spcPts val="800"/>
              </a:spcAft>
              <a:buNone/>
            </a:pPr>
            <a:r>
              <a:rPr lang="en-US" altLang="en-US" dirty="0"/>
              <a:t>The system shall perform flight, passenger, booking, and schedule operations accurately and consistently without data loss.</a:t>
            </a:r>
            <a:endParaRPr lang="en-US" altLang="en-US" dirty="0"/>
          </a:p>
          <a:p>
            <a:pPr marL="0" indent="0">
              <a:lnSpc>
                <a:spcPct val="115000"/>
              </a:lnSpc>
              <a:spcAft>
                <a:spcPts val="800"/>
              </a:spcAft>
              <a:buNone/>
            </a:pPr>
            <a:r>
              <a:rPr lang="en-US" altLang="en-US" b="1" dirty="0">
                <a:solidFill>
                  <a:schemeClr val="accent1">
                    <a:lumMod val="75000"/>
                  </a:schemeClr>
                </a:solidFill>
              </a:rPr>
              <a:t>NFR3: Availability</a:t>
            </a:r>
            <a:endParaRPr lang="en-US" altLang="en-US" b="1" dirty="0">
              <a:solidFill>
                <a:schemeClr val="accent1">
                  <a:lumMod val="75000"/>
                </a:schemeClr>
              </a:solidFill>
            </a:endParaRPr>
          </a:p>
          <a:p>
            <a:pPr marL="0" indent="0">
              <a:lnSpc>
                <a:spcPct val="115000"/>
              </a:lnSpc>
              <a:spcAft>
                <a:spcPts val="800"/>
              </a:spcAft>
              <a:buNone/>
            </a:pPr>
            <a:r>
              <a:rPr lang="en-US" altLang="en-US" dirty="0"/>
              <a:t>The system shall be available to users whenever required, except during scheduled maintenance.</a:t>
            </a:r>
            <a:endParaRPr lang="en-US" altLang="en-US" dirty="0"/>
          </a:p>
          <a:p>
            <a:pPr marL="0" indent="0">
              <a:lnSpc>
                <a:spcPct val="115000"/>
              </a:lnSpc>
              <a:spcAft>
                <a:spcPts val="800"/>
              </a:spcAft>
              <a:buNone/>
            </a:pPr>
            <a:r>
              <a:rPr lang="en-US" altLang="en-US" b="1" dirty="0">
                <a:solidFill>
                  <a:schemeClr val="accent1">
                    <a:lumMod val="75000"/>
                  </a:schemeClr>
                </a:solidFill>
              </a:rPr>
              <a:t>NFR4: Security</a:t>
            </a:r>
            <a:endParaRPr lang="en-US" altLang="en-US" b="1" dirty="0">
              <a:solidFill>
                <a:schemeClr val="accent1">
                  <a:lumMod val="75000"/>
                </a:schemeClr>
              </a:solidFill>
            </a:endParaRPr>
          </a:p>
          <a:p>
            <a:pPr marL="0" indent="0">
              <a:lnSpc>
                <a:spcPct val="115000"/>
              </a:lnSpc>
              <a:spcAft>
                <a:spcPts val="800"/>
              </a:spcAft>
              <a:buNone/>
            </a:pPr>
            <a:r>
              <a:rPr lang="en-US" altLang="en-US" dirty="0"/>
              <a:t>The system shall protect user, staff, flight, and booking information from unauthorized access.</a:t>
            </a:r>
            <a:endParaRPr lang="en-US" altLang="en-US" dirty="0"/>
          </a:p>
          <a:p>
            <a:pPr marL="0" indent="0">
              <a:lnSpc>
                <a:spcPct val="115000"/>
              </a:lnSpc>
              <a:spcAft>
                <a:spcPts val="800"/>
              </a:spcAft>
              <a:buNone/>
            </a:pPr>
            <a:r>
              <a:rPr lang="en-US" altLang="en-US" b="1" dirty="0">
                <a:solidFill>
                  <a:schemeClr val="accent1">
                    <a:lumMod val="75000"/>
                  </a:schemeClr>
                </a:solidFill>
              </a:rPr>
              <a:t>NFR5: Usability</a:t>
            </a:r>
            <a:endParaRPr lang="en-US" altLang="en-US" b="1" dirty="0">
              <a:solidFill>
                <a:schemeClr val="accent1">
                  <a:lumMod val="75000"/>
                </a:schemeClr>
              </a:solidFill>
            </a:endParaRPr>
          </a:p>
          <a:p>
            <a:pPr marL="0" indent="0">
              <a:lnSpc>
                <a:spcPct val="115000"/>
              </a:lnSpc>
              <a:spcAft>
                <a:spcPts val="800"/>
              </a:spcAft>
              <a:buNone/>
            </a:pPr>
            <a:r>
              <a:rPr lang="en-US" altLang="en-US" dirty="0"/>
              <a:t>The system shall provide a simple and user-friendly interface for passengers and authorized staff to perform their tasks easily.</a:t>
            </a:r>
            <a:endParaRPr lang="en-US" altLang="en-US" dirty="0"/>
          </a:p>
          <a:p>
            <a:pPr marL="0" indent="0">
              <a:lnSpc>
                <a:spcPct val="115000"/>
              </a:lnSpc>
              <a:spcAft>
                <a:spcPts val="800"/>
              </a:spcAft>
              <a:buNone/>
            </a:pPr>
            <a:endParaRPr lang="en-US" dirty="0"/>
          </a:p>
        </p:txBody>
      </p:sp>
      <p:sp>
        <p:nvSpPr>
          <p:cNvPr id="6" name="Text 4"/>
          <p:cNvSpPr txBox="1"/>
          <p:nvPr/>
        </p:nvSpPr>
        <p:spPr>
          <a:xfrm>
            <a:off x="548640" y="6473952"/>
            <a:ext cx="6400800" cy="274320"/>
          </a:xfrm>
          <a:prstGeom prst="rect">
            <a:avLst/>
          </a:prstGeom>
          <a:noFill/>
        </p:spPr>
        <p:txBody>
          <a:bodyPr wrap="square" lIns="0" tIns="0" rIns="0" bIns="0" rtlCol="0" anchor="ctr"/>
          <a:lstStyle/>
          <a:p>
            <a:pPr marL="0" indent="0">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Airline Management System — SRS Presentation</a:t>
            </a:r>
            <a:endParaRPr lang="en-US" sz="900" dirty="0"/>
          </a:p>
        </p:txBody>
      </p:sp>
      <p:sp>
        <p:nvSpPr>
          <p:cNvPr id="7" name="Text 5"/>
          <p:cNvSpPr txBox="1"/>
          <p:nvPr/>
        </p:nvSpPr>
        <p:spPr>
          <a:xfrm>
            <a:off x="11183112" y="6473952"/>
            <a:ext cx="457200" cy="274320"/>
          </a:xfrm>
          <a:prstGeom prst="rect">
            <a:avLst/>
          </a:prstGeom>
          <a:noFill/>
        </p:spPr>
        <p:txBody>
          <a:bodyPr wrap="square" lIns="0" tIns="0" rIns="0" bIns="0" rtlCol="0" anchor="ctr"/>
          <a:lstStyle/>
          <a:p>
            <a:pPr marL="0" indent="0" algn="r">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92125" y="243205"/>
            <a:ext cx="11191875" cy="8612505"/>
          </a:xfrm>
          <a:prstGeom prst="rect">
            <a:avLst/>
          </a:prstGeom>
          <a:noFill/>
        </p:spPr>
        <p:txBody>
          <a:bodyPr wrap="square" rtlCol="0">
            <a:noAutofit/>
          </a:bodyPr>
          <a:p>
            <a:pPr marL="0" indent="0">
              <a:lnSpc>
                <a:spcPct val="115000"/>
              </a:lnSpc>
              <a:spcAft>
                <a:spcPts val="800"/>
              </a:spcAft>
              <a:buNone/>
            </a:pPr>
            <a:r>
              <a:rPr lang="en-US" altLang="en-US" b="1" dirty="0">
                <a:solidFill>
                  <a:schemeClr val="accent1">
                    <a:lumMod val="75000"/>
                  </a:schemeClr>
                </a:solidFill>
                <a:sym typeface="+mn-ea"/>
              </a:rPr>
              <a:t>NFR6: Maintainability</a:t>
            </a:r>
            <a:endParaRPr lang="en-US" altLang="en-US" b="1" dirty="0">
              <a:solidFill>
                <a:schemeClr val="accent1">
                  <a:lumMod val="75000"/>
                </a:schemeClr>
              </a:solidFill>
            </a:endParaRPr>
          </a:p>
          <a:p>
            <a:pPr marL="0" indent="0">
              <a:lnSpc>
                <a:spcPct val="115000"/>
              </a:lnSpc>
              <a:spcAft>
                <a:spcPts val="800"/>
              </a:spcAft>
              <a:buNone/>
            </a:pPr>
            <a:r>
              <a:rPr lang="en-US" altLang="en-US" dirty="0">
                <a:sym typeface="+mn-ea"/>
              </a:rPr>
              <a:t>The system shall be designed so that changes, corrections, and future enhancements can be implemented with minimal impact on existing functions.</a:t>
            </a:r>
            <a:endParaRPr lang="en-US" altLang="en-US" dirty="0"/>
          </a:p>
          <a:p>
            <a:pPr marL="0" indent="0">
              <a:lnSpc>
                <a:spcPct val="115000"/>
              </a:lnSpc>
              <a:spcAft>
                <a:spcPts val="800"/>
              </a:spcAft>
              <a:buNone/>
            </a:pPr>
            <a:r>
              <a:rPr lang="en-US" altLang="en-US" b="1" dirty="0">
                <a:solidFill>
                  <a:schemeClr val="accent1">
                    <a:lumMod val="75000"/>
                  </a:schemeClr>
                </a:solidFill>
                <a:sym typeface="+mn-ea"/>
              </a:rPr>
              <a:t>NFR7: Scalability</a:t>
            </a:r>
            <a:endParaRPr lang="en-US" altLang="en-US" b="1" dirty="0">
              <a:solidFill>
                <a:schemeClr val="accent1">
                  <a:lumMod val="75000"/>
                </a:schemeClr>
              </a:solidFill>
            </a:endParaRPr>
          </a:p>
          <a:p>
            <a:pPr marL="0" indent="0">
              <a:lnSpc>
                <a:spcPct val="115000"/>
              </a:lnSpc>
              <a:spcAft>
                <a:spcPts val="800"/>
              </a:spcAft>
              <a:buNone/>
            </a:pPr>
            <a:r>
              <a:rPr lang="en-US" altLang="en-US" dirty="0">
                <a:sym typeface="+mn-ea"/>
              </a:rPr>
              <a:t>The system shall support an increasing number of passengers, staff members, flights, schedules, and bookings without significant degradation in performance.</a:t>
            </a:r>
            <a:endParaRPr lang="en-US" altLang="en-US" dirty="0"/>
          </a:p>
          <a:p>
            <a:pPr marL="0" indent="0">
              <a:lnSpc>
                <a:spcPct val="115000"/>
              </a:lnSpc>
              <a:spcAft>
                <a:spcPts val="800"/>
              </a:spcAft>
              <a:buNone/>
            </a:pPr>
            <a:r>
              <a:rPr lang="en-US" altLang="en-US" b="1" dirty="0">
                <a:solidFill>
                  <a:schemeClr val="accent1">
                    <a:lumMod val="75000"/>
                  </a:schemeClr>
                </a:solidFill>
                <a:sym typeface="+mn-ea"/>
              </a:rPr>
              <a:t>NFR8: Portability</a:t>
            </a:r>
            <a:endParaRPr lang="en-US" altLang="en-US" b="1" dirty="0">
              <a:solidFill>
                <a:schemeClr val="accent1">
                  <a:lumMod val="75000"/>
                </a:schemeClr>
              </a:solidFill>
            </a:endParaRPr>
          </a:p>
          <a:p>
            <a:pPr marL="0" indent="0">
              <a:lnSpc>
                <a:spcPct val="115000"/>
              </a:lnSpc>
              <a:spcAft>
                <a:spcPts val="800"/>
              </a:spcAft>
              <a:buNone/>
            </a:pPr>
            <a:r>
              <a:rPr lang="en-US" altLang="en-US" dirty="0">
                <a:sym typeface="+mn-ea"/>
              </a:rPr>
              <a:t>The system shall be accessible through commonly used web browsers and on different devices such as desktops, tablets, and mobile devices.</a:t>
            </a:r>
            <a:endParaRPr lang="en-US" altLang="en-US" dirty="0"/>
          </a:p>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p:spPr>
        <p:txBody>
          <a:bodyPr wrap="square" lIns="0" tIns="0" rIns="0" bIns="0" rtlCol="0" anchor="ctr"/>
          <a:lstStyle/>
          <a:p>
            <a:pPr marL="0" indent="0">
              <a:buNone/>
            </a:pPr>
            <a:endParaRPr lang="en-US" sz="1200" dirty="0"/>
          </a:p>
        </p:txBody>
      </p:sp>
      <p:sp>
        <p:nvSpPr>
          <p:cNvPr id="3" name="Text 1"/>
          <p:cNvSpPr txBox="1"/>
          <p:nvPr/>
        </p:nvSpPr>
        <p:spPr>
          <a:xfrm>
            <a:off x="548640" y="566928"/>
            <a:ext cx="11091672" cy="640080"/>
          </a:xfrm>
          <a:prstGeom prst="rect">
            <a:avLst/>
          </a:prstGeom>
          <a:noFill/>
        </p:spPr>
        <p:txBody>
          <a:bodyPr wrap="square" lIns="0" tIns="0" rIns="0" bIns="0" rtlCol="0" anchor="ctr"/>
          <a:lstStyle/>
          <a:p>
            <a:pPr marL="0" indent="0">
              <a:buNone/>
            </a:pPr>
            <a:r>
              <a:rPr lang="en-US" sz="3000" b="1" dirty="0">
                <a:solidFill>
                  <a:srgbClr val="1F3864"/>
                </a:solidFill>
                <a:latin typeface="Calibri" panose="020F0502020204030204" pitchFamily="34" charset="0"/>
                <a:ea typeface="Calibri" panose="020F0502020204030204" pitchFamily="34" charset="-122"/>
                <a:cs typeface="Calibri" panose="020F0502020204030204" pitchFamily="34" charset="-120"/>
              </a:rPr>
              <a:t>MODULES</a:t>
            </a:r>
            <a:endParaRPr lang="en-US" sz="3000" dirty="0"/>
          </a:p>
        </p:txBody>
      </p:sp>
      <p:sp>
        <p:nvSpPr>
          <p:cNvPr id="4" name="Shape 2"/>
          <p:cNvSpPr/>
          <p:nvPr/>
        </p:nvSpPr>
        <p:spPr>
          <a:xfrm>
            <a:off x="548640" y="1170432"/>
            <a:ext cx="11091672" cy="0"/>
          </a:xfrm>
          <a:prstGeom prst="line">
            <a:avLst/>
          </a:prstGeom>
          <a:noFill/>
          <a:ln w="12700">
            <a:solidFill>
              <a:srgbClr val="D9D9D9"/>
            </a:solidFill>
            <a:prstDash val="solid"/>
          </a:ln>
        </p:spPr>
      </p:sp>
      <p:sp>
        <p:nvSpPr>
          <p:cNvPr id="5" name="Text 3"/>
          <p:cNvSpPr txBox="1"/>
          <p:nvPr/>
        </p:nvSpPr>
        <p:spPr>
          <a:xfrm>
            <a:off x="348615" y="1532890"/>
            <a:ext cx="11643360" cy="5022215"/>
          </a:xfrm>
          <a:prstGeom prst="rect">
            <a:avLst/>
          </a:prstGeom>
          <a:noFill/>
        </p:spPr>
        <p:txBody>
          <a:bodyPr wrap="square" lIns="0" tIns="0" rIns="0" bIns="0" rtlCol="0" anchor="t"/>
          <a:lstStyle/>
          <a:p>
            <a:pPr indent="0">
              <a:lnSpc>
                <a:spcPct val="115000"/>
              </a:lnSpc>
              <a:spcAft>
                <a:spcPts val="800"/>
              </a:spcAft>
              <a:buSzPct val="100000"/>
              <a:buNone/>
            </a:pPr>
            <a:r>
              <a:rPr lang="en-US" altLang="en-US" b="1" dirty="0">
                <a:solidFill>
                  <a:schemeClr val="accent1">
                    <a:lumMod val="75000"/>
                  </a:schemeClr>
                </a:solidFill>
              </a:rPr>
              <a:t> PASSENGER MODULE</a:t>
            </a:r>
            <a:endParaRPr lang="en-US" altLang="en-US" b="1" dirty="0">
              <a:solidFill>
                <a:schemeClr val="accent1">
                  <a:lumMod val="75000"/>
                </a:schemeClr>
              </a:solidFill>
            </a:endParaRPr>
          </a:p>
          <a:p>
            <a:pPr indent="0" algn="l">
              <a:lnSpc>
                <a:spcPct val="115000"/>
              </a:lnSpc>
              <a:spcAft>
                <a:spcPts val="800"/>
              </a:spcAft>
              <a:buSzPct val="100000"/>
              <a:buNone/>
            </a:pPr>
            <a:r>
              <a:rPr lang="en-US" altLang="en-US" dirty="0">
                <a:solidFill>
                  <a:schemeClr val="tx1"/>
                </a:solidFill>
              </a:rPr>
              <a:t>The Passenger Module handles operations related to users booking flights. Passengers can register, log in securely, search for available flights, and book tickets. They can view their booking history </a:t>
            </a:r>
            <a:r>
              <a:rPr lang="en-US" altLang="en-US" dirty="0">
                <a:sym typeface="+mn-ea"/>
              </a:rPr>
              <a:t>and cancel bookings when required. The system ensures real-time seat availability and prevents </a:t>
            </a:r>
            <a:r>
              <a:rPr lang="en-US" altLang="en-US" dirty="0">
                <a:sym typeface="+mn-ea"/>
              </a:rPr>
              <a:t>overbooking. The module provides a user-friendly interface for managing all passenger-related activities.</a:t>
            </a:r>
            <a:r>
              <a:rPr lang="en-US" altLang="en-US" sz="1600" b="1" dirty="0">
                <a:solidFill>
                  <a:schemeClr val="accent1">
                    <a:lumMod val="75000"/>
                  </a:schemeClr>
                </a:solidFill>
                <a:sym typeface="+mn-ea"/>
              </a:rPr>
              <a:t> </a:t>
            </a:r>
            <a:endParaRPr lang="en-US" altLang="en-US" sz="1600" b="1" dirty="0">
              <a:solidFill>
                <a:schemeClr val="accent1">
                  <a:lumMod val="75000"/>
                </a:schemeClr>
              </a:solidFill>
            </a:endParaRPr>
          </a:p>
          <a:p>
            <a:pPr indent="0" algn="l">
              <a:lnSpc>
                <a:spcPct val="115000"/>
              </a:lnSpc>
              <a:spcAft>
                <a:spcPts val="800"/>
              </a:spcAft>
              <a:buSzPct val="100000"/>
              <a:buNone/>
            </a:pPr>
            <a:endParaRPr lang="en-US" altLang="en-US" sz="1600" b="1" dirty="0">
              <a:solidFill>
                <a:schemeClr val="accent1">
                  <a:lumMod val="75000"/>
                </a:schemeClr>
              </a:solidFill>
            </a:endParaRPr>
          </a:p>
          <a:p>
            <a:pPr indent="0" algn="l">
              <a:lnSpc>
                <a:spcPct val="115000"/>
              </a:lnSpc>
              <a:spcAft>
                <a:spcPts val="800"/>
              </a:spcAft>
              <a:buSzPct val="100000"/>
              <a:buNone/>
            </a:pPr>
            <a:r>
              <a:rPr lang="en-US" altLang="en-US" b="1" dirty="0">
                <a:solidFill>
                  <a:schemeClr val="accent1">
                    <a:lumMod val="75000"/>
                  </a:schemeClr>
                </a:solidFill>
              </a:rPr>
              <a:t>ADMIN MODULE</a:t>
            </a:r>
            <a:endParaRPr lang="en-US" altLang="en-US" b="1" dirty="0">
              <a:solidFill>
                <a:schemeClr val="accent1">
                  <a:lumMod val="75000"/>
                </a:schemeClr>
              </a:solidFill>
            </a:endParaRPr>
          </a:p>
          <a:p>
            <a:pPr indent="0">
              <a:lnSpc>
                <a:spcPct val="115000"/>
              </a:lnSpc>
              <a:spcAft>
                <a:spcPts val="800"/>
              </a:spcAft>
              <a:buSzPct val="100000"/>
              <a:buNone/>
            </a:pPr>
            <a:r>
              <a:rPr lang="en-US" altLang="en-US" dirty="0">
                <a:solidFill>
                  <a:schemeClr val="tx1"/>
                </a:solidFill>
              </a:rPr>
              <a:t>The Admin Module is responsible for managing the entire system. The administrator can add and manage </a:t>
            </a:r>
            <a:r>
              <a:rPr lang="en-US" altLang="en-US" dirty="0">
                <a:sym typeface="+mn-ea"/>
              </a:rPr>
              <a:t>flights, including updating flight details and seat availability. Admin can also manage staff such as pilots, hostesses, and ground staff by adding, viewing, and deleting their records. Additionally, the admin assigns </a:t>
            </a:r>
            <a:r>
              <a:rPr lang="en-US" altLang="en-US" dirty="0">
                <a:sym typeface="+mn-ea"/>
              </a:rPr>
              <a:t>staff to specific flights using the staff scheduling system. This module ensures proper coordination and smooth functioning of airline operation.</a:t>
            </a:r>
            <a:r>
              <a:rPr lang="en-US" altLang="en-US" b="1" dirty="0">
                <a:solidFill>
                  <a:schemeClr val="accent1">
                    <a:lumMod val="75000"/>
                  </a:schemeClr>
                </a:solidFill>
                <a:sym typeface="+mn-ea"/>
              </a:rPr>
              <a:t> </a:t>
            </a:r>
            <a:endParaRPr lang="en-US" altLang="en-US" b="1" dirty="0">
              <a:solidFill>
                <a:schemeClr val="accent1">
                  <a:lumMod val="75000"/>
                </a:schemeClr>
              </a:solidFill>
            </a:endParaRPr>
          </a:p>
          <a:p>
            <a:pPr indent="0">
              <a:lnSpc>
                <a:spcPct val="115000"/>
              </a:lnSpc>
              <a:spcAft>
                <a:spcPts val="800"/>
              </a:spcAft>
              <a:buSzPct val="100000"/>
              <a:buNone/>
            </a:pPr>
            <a:endParaRPr lang="en-US" altLang="en-US" sz="1600" dirty="0">
              <a:solidFill>
                <a:schemeClr val="tx1"/>
              </a:solidFill>
            </a:endParaRPr>
          </a:p>
          <a:p>
            <a:pPr indent="0">
              <a:lnSpc>
                <a:spcPct val="115000"/>
              </a:lnSpc>
              <a:spcAft>
                <a:spcPts val="800"/>
              </a:spcAft>
              <a:buSzPct val="100000"/>
              <a:buNone/>
            </a:pPr>
            <a:endParaRPr lang="en-US" altLang="en-US" sz="1600" dirty="0">
              <a:solidFill>
                <a:schemeClr val="tx1"/>
              </a:solidFill>
            </a:endParaRPr>
          </a:p>
          <a:p>
            <a:pPr indent="0">
              <a:lnSpc>
                <a:spcPct val="115000"/>
              </a:lnSpc>
              <a:spcAft>
                <a:spcPts val="800"/>
              </a:spcAft>
              <a:buSzPct val="100000"/>
              <a:buNone/>
            </a:pPr>
            <a:endParaRPr lang="en-US" altLang="en-US" sz="1600" dirty="0">
              <a:solidFill>
                <a:schemeClr val="tx1"/>
              </a:solidFill>
            </a:endParaRPr>
          </a:p>
          <a:p>
            <a:pPr indent="0">
              <a:lnSpc>
                <a:spcPct val="115000"/>
              </a:lnSpc>
              <a:spcAft>
                <a:spcPts val="800"/>
              </a:spcAft>
              <a:buSzPct val="100000"/>
              <a:buNone/>
            </a:pPr>
            <a:endParaRPr lang="en-US" altLang="en-US" sz="1600" b="1" dirty="0">
              <a:solidFill>
                <a:schemeClr val="accent1">
                  <a:lumMod val="75000"/>
                </a:schemeClr>
              </a:solidFill>
            </a:endParaRPr>
          </a:p>
        </p:txBody>
      </p:sp>
      <p:sp>
        <p:nvSpPr>
          <p:cNvPr id="6" name="Text 4"/>
          <p:cNvSpPr txBox="1"/>
          <p:nvPr/>
        </p:nvSpPr>
        <p:spPr>
          <a:xfrm>
            <a:off x="548640" y="6473952"/>
            <a:ext cx="6400800" cy="274320"/>
          </a:xfrm>
          <a:prstGeom prst="rect">
            <a:avLst/>
          </a:prstGeom>
          <a:noFill/>
        </p:spPr>
        <p:txBody>
          <a:bodyPr wrap="square" lIns="0" tIns="0" rIns="0" bIns="0" rtlCol="0" anchor="ctr"/>
          <a:lstStyle/>
          <a:p>
            <a:pPr marL="0" indent="0">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Airline Management System</a:t>
            </a:r>
            <a:endParaRPr lang="en-US" sz="900" dirty="0"/>
          </a:p>
        </p:txBody>
      </p:sp>
      <p:sp>
        <p:nvSpPr>
          <p:cNvPr id="7" name="Text 5"/>
          <p:cNvSpPr txBox="1"/>
          <p:nvPr/>
        </p:nvSpPr>
        <p:spPr>
          <a:xfrm>
            <a:off x="11183112" y="6473952"/>
            <a:ext cx="457200" cy="274320"/>
          </a:xfrm>
          <a:prstGeom prst="rect">
            <a:avLst/>
          </a:prstGeom>
          <a:noFill/>
        </p:spPr>
        <p:txBody>
          <a:bodyPr wrap="square" lIns="0" tIns="0" rIns="0" bIns="0" rtlCol="0" anchor="ctr"/>
          <a:lstStyle/>
          <a:p>
            <a:pPr marL="0" indent="0" algn="r">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83210" y="222885"/>
            <a:ext cx="10609580" cy="17440910"/>
          </a:xfrm>
          <a:prstGeom prst="rect">
            <a:avLst/>
          </a:prstGeom>
          <a:noFill/>
        </p:spPr>
        <p:txBody>
          <a:bodyPr wrap="square" rtlCol="0">
            <a:noAutofit/>
          </a:bodyPr>
          <a:p>
            <a:pPr indent="0">
              <a:lnSpc>
                <a:spcPct val="115000"/>
              </a:lnSpc>
              <a:spcAft>
                <a:spcPts val="800"/>
              </a:spcAft>
              <a:buSzPct val="100000"/>
              <a:buNone/>
            </a:pPr>
            <a:r>
              <a:rPr lang="en-US" altLang="en-US" b="1" dirty="0">
                <a:solidFill>
                  <a:schemeClr val="accent1">
                    <a:lumMod val="75000"/>
                  </a:schemeClr>
                </a:solidFill>
                <a:sym typeface="+mn-ea"/>
              </a:rPr>
              <a:t> STAFF MODULE</a:t>
            </a:r>
            <a:endParaRPr lang="en-US" altLang="en-US" b="1" dirty="0">
              <a:solidFill>
                <a:schemeClr val="accent1">
                  <a:lumMod val="75000"/>
                </a:schemeClr>
              </a:solidFill>
            </a:endParaRPr>
          </a:p>
          <a:p>
            <a:pPr indent="0">
              <a:lnSpc>
                <a:spcPct val="115000"/>
              </a:lnSpc>
              <a:spcAft>
                <a:spcPts val="800"/>
              </a:spcAft>
              <a:buSzPct val="100000"/>
              <a:buNone/>
            </a:pPr>
            <a:r>
              <a:rPr lang="en-US" altLang="en-US" dirty="0">
                <a:solidFill>
                  <a:schemeClr val="tx1"/>
                </a:solidFill>
                <a:sym typeface="+mn-ea"/>
              </a:rPr>
              <a:t>The Staff Module includes pilots, hostesses, and ground staff. Staff members can register and log in</a:t>
            </a:r>
            <a:endParaRPr lang="en-US" altLang="en-US" dirty="0">
              <a:solidFill>
                <a:schemeClr val="tx1"/>
              </a:solidFill>
            </a:endParaRPr>
          </a:p>
          <a:p>
            <a:pPr indent="0">
              <a:lnSpc>
                <a:spcPct val="115000"/>
              </a:lnSpc>
              <a:spcAft>
                <a:spcPts val="800"/>
              </a:spcAft>
              <a:buSzPct val="100000"/>
              <a:buNone/>
            </a:pPr>
            <a:r>
              <a:rPr lang="en-US" altLang="en-US" dirty="0">
                <a:solidFill>
                  <a:schemeClr val="tx1"/>
                </a:solidFill>
                <a:sym typeface="+mn-ea"/>
              </a:rPr>
              <a:t>to the system using their credentials. Once logged in, they can view the flights assigned to them. This</a:t>
            </a:r>
            <a:endParaRPr lang="en-US" altLang="en-US" dirty="0">
              <a:solidFill>
                <a:schemeClr val="tx1"/>
              </a:solidFill>
            </a:endParaRPr>
          </a:p>
          <a:p>
            <a:pPr indent="0">
              <a:lnSpc>
                <a:spcPct val="115000"/>
              </a:lnSpc>
              <a:spcAft>
                <a:spcPts val="800"/>
              </a:spcAft>
              <a:buSzPct val="100000"/>
              <a:buNone/>
            </a:pPr>
            <a:r>
              <a:rPr lang="en-US" altLang="en-US" dirty="0">
                <a:solidFill>
                  <a:schemeClr val="tx1"/>
                </a:solidFill>
                <a:sym typeface="+mn-ea"/>
              </a:rPr>
              <a:t>module helps staff members stay updated with their schedules and ensures efficient management of</a:t>
            </a:r>
            <a:endParaRPr lang="en-US" altLang="en-US" dirty="0">
              <a:solidFill>
                <a:schemeClr val="tx1"/>
              </a:solidFill>
            </a:endParaRPr>
          </a:p>
          <a:p>
            <a:pPr indent="0">
              <a:lnSpc>
                <a:spcPct val="115000"/>
              </a:lnSpc>
              <a:spcAft>
                <a:spcPts val="800"/>
              </a:spcAft>
              <a:buSzPct val="100000"/>
              <a:buNone/>
            </a:pPr>
            <a:r>
              <a:rPr lang="en-US" altLang="en-US" dirty="0">
                <a:solidFill>
                  <a:schemeClr val="tx1"/>
                </a:solidFill>
                <a:sym typeface="+mn-ea"/>
              </a:rPr>
              <a:t>airline operations</a:t>
            </a:r>
            <a:endParaRPr lang="en-US" altLang="en-US" dirty="0">
              <a:solidFill>
                <a:schemeClr val="tx1"/>
              </a:solidFill>
            </a:endParaRPr>
          </a:p>
          <a:p>
            <a:pPr indent="0">
              <a:lnSpc>
                <a:spcPct val="115000"/>
              </a:lnSpc>
              <a:spcAft>
                <a:spcPts val="800"/>
              </a:spcAft>
              <a:buSzPct val="100000"/>
              <a:buNone/>
            </a:pPr>
            <a:r>
              <a:rPr lang="en-US" altLang="en-US" dirty="0">
                <a:solidFill>
                  <a:schemeClr val="tx1"/>
                </a:solidFill>
                <a:sym typeface="+mn-ea"/>
              </a:rPr>
              <a:t>This implementation ensures a secure, scalable, and efficient airline management system that</a:t>
            </a:r>
            <a:endParaRPr lang="en-US" altLang="en-US" dirty="0">
              <a:solidFill>
                <a:schemeClr val="tx1"/>
              </a:solidFill>
            </a:endParaRPr>
          </a:p>
          <a:p>
            <a:pPr indent="0">
              <a:lnSpc>
                <a:spcPct val="115000"/>
              </a:lnSpc>
              <a:spcAft>
                <a:spcPts val="800"/>
              </a:spcAft>
              <a:buSzPct val="100000"/>
              <a:buNone/>
            </a:pPr>
            <a:r>
              <a:rPr lang="en-US" altLang="en-US" dirty="0">
                <a:solidFill>
                  <a:schemeClr val="tx1"/>
                </a:solidFill>
                <a:sym typeface="+mn-ea"/>
              </a:rPr>
              <a:t>enhances operational efficiency and user experience</a:t>
            </a:r>
            <a:endParaRPr lang="en-US" altLang="en-US" dirty="0">
              <a:solidFill>
                <a:schemeClr val="tx1"/>
              </a:solidFill>
            </a:endParaRPr>
          </a:p>
          <a:p>
            <a:pPr indent="0">
              <a:buFont typeface="Wingdings" panose="05000000000000000000" charset="0"/>
              <a:buNone/>
            </a:pPr>
            <a:endParaRPr lang="en-US" altLang="en-US" dirty="0">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p:spPr>
        <p:txBody>
          <a:bodyPr wrap="square" lIns="0" tIns="0" rIns="0" bIns="0" rtlCol="0" anchor="ctr"/>
          <a:lstStyle/>
          <a:p>
            <a:pPr marL="0" indent="0">
              <a:buNone/>
            </a:pPr>
            <a:endParaRPr lang="en-US" sz="1200" dirty="0"/>
          </a:p>
        </p:txBody>
      </p:sp>
      <p:sp>
        <p:nvSpPr>
          <p:cNvPr id="3" name="Text 1"/>
          <p:cNvSpPr txBox="1"/>
          <p:nvPr/>
        </p:nvSpPr>
        <p:spPr>
          <a:xfrm>
            <a:off x="548640" y="319913"/>
            <a:ext cx="11091672" cy="640080"/>
          </a:xfrm>
          <a:prstGeom prst="rect">
            <a:avLst/>
          </a:prstGeom>
          <a:noFill/>
        </p:spPr>
        <p:txBody>
          <a:bodyPr wrap="square" lIns="0" tIns="0" rIns="0" bIns="0" rtlCol="0" anchor="ctr"/>
          <a:lstStyle/>
          <a:p>
            <a:pPr marL="0" indent="0">
              <a:buNone/>
            </a:pPr>
            <a:r>
              <a:rPr lang="en-US" sz="3000" b="1" dirty="0">
                <a:solidFill>
                  <a:srgbClr val="1F3864"/>
                </a:solidFill>
                <a:latin typeface="Calibri" panose="020F0502020204030204" pitchFamily="34" charset="0"/>
                <a:ea typeface="Calibri" panose="020F0502020204030204" pitchFamily="34" charset="-122"/>
                <a:cs typeface="Calibri" panose="020F0502020204030204" pitchFamily="34" charset="-120"/>
              </a:rPr>
              <a:t> USE CASE DIAGRAM</a:t>
            </a:r>
            <a:endParaRPr lang="en-US" sz="3000" dirty="0"/>
          </a:p>
        </p:txBody>
      </p:sp>
      <p:sp>
        <p:nvSpPr>
          <p:cNvPr id="4" name="Shape 2"/>
          <p:cNvSpPr/>
          <p:nvPr/>
        </p:nvSpPr>
        <p:spPr>
          <a:xfrm>
            <a:off x="548640" y="920877"/>
            <a:ext cx="11091672" cy="0"/>
          </a:xfrm>
          <a:prstGeom prst="line">
            <a:avLst/>
          </a:prstGeom>
          <a:noFill/>
          <a:ln w="12700">
            <a:solidFill>
              <a:srgbClr val="D9D9D9"/>
            </a:solidFill>
            <a:prstDash val="solid"/>
          </a:ln>
        </p:spPr>
      </p:sp>
      <p:pic>
        <p:nvPicPr>
          <p:cNvPr id="5" name="Image 0" descr="uc.jpeg"/>
          <p:cNvPicPr>
            <a:picLocks noChangeAspect="1"/>
          </p:cNvPicPr>
          <p:nvPr/>
        </p:nvPicPr>
        <p:blipFill>
          <a:blip r:embed="rId1"/>
          <a:stretch>
            <a:fillRect/>
          </a:stretch>
        </p:blipFill>
        <p:spPr>
          <a:xfrm>
            <a:off x="2894965" y="960120"/>
            <a:ext cx="5872480" cy="5576570"/>
          </a:xfrm>
          <a:prstGeom prst="rect">
            <a:avLst/>
          </a:prstGeom>
        </p:spPr>
      </p:pic>
      <p:sp>
        <p:nvSpPr>
          <p:cNvPr id="6" name="Text 3"/>
          <p:cNvSpPr txBox="1"/>
          <p:nvPr/>
        </p:nvSpPr>
        <p:spPr>
          <a:xfrm>
            <a:off x="548640" y="6035040"/>
            <a:ext cx="11091672" cy="274320"/>
          </a:xfrm>
          <a:prstGeom prst="rect">
            <a:avLst/>
          </a:prstGeom>
          <a:noFill/>
        </p:spPr>
        <p:txBody>
          <a:bodyPr wrap="square" lIns="0" tIns="0" rIns="0" bIns="0" rtlCol="0" anchor="ctr"/>
          <a:lstStyle/>
          <a:p>
            <a:pPr marL="0" indent="0" algn="ctr">
              <a:buNone/>
            </a:pPr>
            <a:r>
              <a:rPr lang="en-US" sz="1000" i="1" dirty="0">
                <a:solidFill>
                  <a:srgbClr val="595959"/>
                </a:solidFill>
                <a:latin typeface="Calibri" panose="020F0502020204030204" pitchFamily="34" charset="0"/>
                <a:ea typeface="Calibri" panose="020F0502020204030204" pitchFamily="34" charset="-122"/>
                <a:cs typeface="Calibri" panose="020F0502020204030204" pitchFamily="34" charset="-120"/>
              </a:rPr>
              <a:t>.</a:t>
            </a:r>
            <a:endParaRPr lang="en-US" sz="1000" dirty="0"/>
          </a:p>
        </p:txBody>
      </p:sp>
      <p:sp>
        <p:nvSpPr>
          <p:cNvPr id="7" name="Text 4"/>
          <p:cNvSpPr txBox="1"/>
          <p:nvPr/>
        </p:nvSpPr>
        <p:spPr>
          <a:xfrm>
            <a:off x="548640" y="6473952"/>
            <a:ext cx="6400800" cy="274320"/>
          </a:xfrm>
          <a:prstGeom prst="rect">
            <a:avLst/>
          </a:prstGeom>
          <a:noFill/>
        </p:spPr>
        <p:txBody>
          <a:bodyPr wrap="square" lIns="0" tIns="0" rIns="0" bIns="0" rtlCol="0" anchor="ctr"/>
          <a:lstStyle/>
          <a:p>
            <a:pPr marL="0" indent="0">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Airline Management System</a:t>
            </a:r>
            <a:endParaRPr lang="en-US" sz="900" dirty="0"/>
          </a:p>
        </p:txBody>
      </p:sp>
      <p:sp>
        <p:nvSpPr>
          <p:cNvPr id="8" name="Text 5"/>
          <p:cNvSpPr txBox="1"/>
          <p:nvPr/>
        </p:nvSpPr>
        <p:spPr>
          <a:xfrm>
            <a:off x="11183112" y="6473952"/>
            <a:ext cx="457200" cy="274320"/>
          </a:xfrm>
          <a:prstGeom prst="rect">
            <a:avLst/>
          </a:prstGeom>
          <a:noFill/>
        </p:spPr>
        <p:txBody>
          <a:bodyPr wrap="square" lIns="0" tIns="0" rIns="0" bIns="0" rtlCol="0" anchor="ctr"/>
          <a:lstStyle/>
          <a:p>
            <a:pPr marL="0" indent="0" algn="r">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p:spPr>
        <p:txBody>
          <a:bodyPr wrap="square" lIns="0" tIns="0" rIns="0" bIns="0" rtlCol="0" anchor="ctr"/>
          <a:lstStyle/>
          <a:p>
            <a:pPr marL="0" indent="0">
              <a:buNone/>
            </a:pPr>
            <a:endParaRPr lang="en-US" sz="1200" dirty="0"/>
          </a:p>
        </p:txBody>
      </p:sp>
      <p:sp>
        <p:nvSpPr>
          <p:cNvPr id="3" name="Text 1"/>
          <p:cNvSpPr txBox="1"/>
          <p:nvPr/>
        </p:nvSpPr>
        <p:spPr>
          <a:xfrm>
            <a:off x="548640" y="319913"/>
            <a:ext cx="11091672" cy="640080"/>
          </a:xfrm>
          <a:prstGeom prst="rect">
            <a:avLst/>
          </a:prstGeom>
          <a:noFill/>
        </p:spPr>
        <p:txBody>
          <a:bodyPr wrap="square" lIns="0" tIns="0" rIns="0" bIns="0" rtlCol="0" anchor="ctr"/>
          <a:lstStyle/>
          <a:p>
            <a:pPr marL="0" indent="0">
              <a:buNone/>
            </a:pPr>
            <a:r>
              <a:rPr lang="en-US" sz="3000" b="1" dirty="0">
                <a:solidFill>
                  <a:srgbClr val="1F3864"/>
                </a:solidFill>
                <a:latin typeface="Calibri" panose="020F0502020204030204" pitchFamily="34" charset="0"/>
                <a:ea typeface="Calibri" panose="020F0502020204030204" pitchFamily="34" charset="-122"/>
                <a:cs typeface="Calibri" panose="020F0502020204030204" pitchFamily="34" charset="-120"/>
              </a:rPr>
              <a:t>USE CASE SPECIFICATION </a:t>
            </a:r>
            <a:endParaRPr lang="en-US" sz="3000" dirty="0"/>
          </a:p>
        </p:txBody>
      </p:sp>
      <p:sp>
        <p:nvSpPr>
          <p:cNvPr id="4" name="Shape 2"/>
          <p:cNvSpPr/>
          <p:nvPr/>
        </p:nvSpPr>
        <p:spPr>
          <a:xfrm>
            <a:off x="548640" y="960247"/>
            <a:ext cx="11091672" cy="0"/>
          </a:xfrm>
          <a:prstGeom prst="line">
            <a:avLst/>
          </a:prstGeom>
          <a:noFill/>
          <a:ln w="12700">
            <a:solidFill>
              <a:srgbClr val="D9D9D9"/>
            </a:solidFill>
            <a:prstDash val="solid"/>
          </a:ln>
        </p:spPr>
      </p:sp>
      <p:sp>
        <p:nvSpPr>
          <p:cNvPr id="6" name="Text 3"/>
          <p:cNvSpPr txBox="1"/>
          <p:nvPr/>
        </p:nvSpPr>
        <p:spPr>
          <a:xfrm>
            <a:off x="548640" y="6473952"/>
            <a:ext cx="6400800" cy="274320"/>
          </a:xfrm>
          <a:prstGeom prst="rect">
            <a:avLst/>
          </a:prstGeom>
          <a:noFill/>
        </p:spPr>
        <p:txBody>
          <a:bodyPr wrap="square" lIns="0" tIns="0" rIns="0" bIns="0" rtlCol="0" anchor="ctr"/>
          <a:lstStyle/>
          <a:p>
            <a:pPr marL="0" indent="0">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AIRLINE MANAGEMENT SYSTEM</a:t>
            </a:r>
            <a:endParaRPr lang="en-US" sz="900" dirty="0"/>
          </a:p>
        </p:txBody>
      </p:sp>
      <p:sp>
        <p:nvSpPr>
          <p:cNvPr id="7" name="Text 4"/>
          <p:cNvSpPr txBox="1"/>
          <p:nvPr/>
        </p:nvSpPr>
        <p:spPr>
          <a:xfrm>
            <a:off x="11183112" y="6473952"/>
            <a:ext cx="457200" cy="274320"/>
          </a:xfrm>
          <a:prstGeom prst="rect">
            <a:avLst/>
          </a:prstGeom>
          <a:noFill/>
        </p:spPr>
        <p:txBody>
          <a:bodyPr wrap="square" lIns="0" tIns="0" rIns="0" bIns="0" rtlCol="0" anchor="ctr"/>
          <a:lstStyle/>
          <a:p>
            <a:pPr marL="0" indent="0" algn="r">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10</a:t>
            </a:r>
            <a:endParaRPr lang="en-US" sz="900" dirty="0"/>
          </a:p>
        </p:txBody>
      </p:sp>
      <p:pic>
        <p:nvPicPr>
          <p:cNvPr id="8" name="Picture 7" descr="usecase1 new"/>
          <p:cNvPicPr>
            <a:picLocks noChangeAspect="1"/>
          </p:cNvPicPr>
          <p:nvPr/>
        </p:nvPicPr>
        <p:blipFill>
          <a:blip r:embed="rId1"/>
          <a:srcRect t="9710"/>
          <a:stretch>
            <a:fillRect/>
          </a:stretch>
        </p:blipFill>
        <p:spPr>
          <a:xfrm>
            <a:off x="549275" y="1219200"/>
            <a:ext cx="11099165" cy="49955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p:spPr>
        <p:txBody>
          <a:bodyPr wrap="square" lIns="0" tIns="0" rIns="0" bIns="0" rtlCol="0" anchor="ctr"/>
          <a:lstStyle/>
          <a:p>
            <a:pPr marL="0" indent="0">
              <a:buNone/>
            </a:pPr>
            <a:endParaRPr lang="en-US" sz="1200" dirty="0"/>
          </a:p>
        </p:txBody>
      </p:sp>
      <p:sp>
        <p:nvSpPr>
          <p:cNvPr id="3" name="Text 1"/>
          <p:cNvSpPr txBox="1"/>
          <p:nvPr/>
        </p:nvSpPr>
        <p:spPr>
          <a:xfrm>
            <a:off x="548640" y="566928"/>
            <a:ext cx="11091672" cy="640080"/>
          </a:xfrm>
          <a:prstGeom prst="rect">
            <a:avLst/>
          </a:prstGeom>
          <a:noFill/>
        </p:spPr>
        <p:txBody>
          <a:bodyPr wrap="square" lIns="0" tIns="0" rIns="0" bIns="0" rtlCol="0" anchor="ctr"/>
          <a:lstStyle/>
          <a:p>
            <a:pPr marL="0" indent="0">
              <a:buNone/>
            </a:pPr>
            <a:endParaRPr lang="en-US" sz="3000" dirty="0"/>
          </a:p>
        </p:txBody>
      </p:sp>
      <p:sp>
        <p:nvSpPr>
          <p:cNvPr id="6" name="Text 3"/>
          <p:cNvSpPr txBox="1"/>
          <p:nvPr/>
        </p:nvSpPr>
        <p:spPr>
          <a:xfrm>
            <a:off x="548640" y="6473952"/>
            <a:ext cx="6400800" cy="274320"/>
          </a:xfrm>
          <a:prstGeom prst="rect">
            <a:avLst/>
          </a:prstGeom>
          <a:noFill/>
        </p:spPr>
        <p:txBody>
          <a:bodyPr wrap="square" lIns="0" tIns="0" rIns="0" bIns="0" rtlCol="0" anchor="ctr"/>
          <a:lstStyle/>
          <a:p>
            <a:pPr marL="0" indent="0">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Airline Management System</a:t>
            </a:r>
            <a:endParaRPr lang="en-US" sz="900" dirty="0"/>
          </a:p>
        </p:txBody>
      </p:sp>
      <p:sp>
        <p:nvSpPr>
          <p:cNvPr id="7" name="Text 4"/>
          <p:cNvSpPr txBox="1"/>
          <p:nvPr/>
        </p:nvSpPr>
        <p:spPr>
          <a:xfrm>
            <a:off x="11183112" y="6473952"/>
            <a:ext cx="457200" cy="274320"/>
          </a:xfrm>
          <a:prstGeom prst="rect">
            <a:avLst/>
          </a:prstGeom>
          <a:noFill/>
        </p:spPr>
        <p:txBody>
          <a:bodyPr wrap="square" lIns="0" tIns="0" rIns="0" bIns="0" rtlCol="0" anchor="ctr"/>
          <a:lstStyle/>
          <a:p>
            <a:pPr marL="0" indent="0" algn="r">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11</a:t>
            </a:r>
            <a:endParaRPr lang="en-US" sz="900" dirty="0"/>
          </a:p>
        </p:txBody>
      </p:sp>
      <p:pic>
        <p:nvPicPr>
          <p:cNvPr id="8" name="Picture 7" descr="usecase 2 new"/>
          <p:cNvPicPr>
            <a:picLocks noChangeAspect="1"/>
          </p:cNvPicPr>
          <p:nvPr/>
        </p:nvPicPr>
        <p:blipFill>
          <a:blip r:embed="rId1"/>
          <a:stretch>
            <a:fillRect/>
          </a:stretch>
        </p:blipFill>
        <p:spPr>
          <a:xfrm>
            <a:off x="518795" y="0"/>
            <a:ext cx="1110170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p:spPr>
        <p:txBody>
          <a:bodyPr wrap="square" lIns="0" tIns="0" rIns="0" bIns="0" rtlCol="0" anchor="ctr"/>
          <a:lstStyle/>
          <a:p>
            <a:pPr marL="0" indent="0">
              <a:buNone/>
            </a:pPr>
            <a:endParaRPr lang="en-US" sz="1200" dirty="0"/>
          </a:p>
        </p:txBody>
      </p:sp>
      <p:sp>
        <p:nvSpPr>
          <p:cNvPr id="3" name="Text 1"/>
          <p:cNvSpPr txBox="1"/>
          <p:nvPr/>
        </p:nvSpPr>
        <p:spPr>
          <a:xfrm>
            <a:off x="548640" y="566928"/>
            <a:ext cx="11091672" cy="640080"/>
          </a:xfrm>
          <a:prstGeom prst="rect">
            <a:avLst/>
          </a:prstGeom>
          <a:noFill/>
        </p:spPr>
        <p:txBody>
          <a:bodyPr wrap="square" lIns="0" tIns="0" rIns="0" bIns="0" rtlCol="0" anchor="ctr"/>
          <a:lstStyle/>
          <a:p>
            <a:pPr marL="0" indent="0">
              <a:buNone/>
            </a:pPr>
            <a:endParaRPr lang="en-US" sz="3000" dirty="0"/>
          </a:p>
        </p:txBody>
      </p:sp>
      <p:pic>
        <p:nvPicPr>
          <p:cNvPr id="5" name="Image 0" descr="ucspec3.jpeg"/>
          <p:cNvPicPr>
            <a:picLocks noChangeAspect="1"/>
          </p:cNvPicPr>
          <p:nvPr/>
        </p:nvPicPr>
        <p:blipFill>
          <a:blip r:embed="rId1"/>
          <a:stretch>
            <a:fillRect/>
          </a:stretch>
        </p:blipFill>
        <p:spPr>
          <a:xfrm>
            <a:off x="442595" y="874395"/>
            <a:ext cx="11091545" cy="4965700"/>
          </a:xfrm>
          <a:prstGeom prst="rect">
            <a:avLst/>
          </a:prstGeom>
        </p:spPr>
      </p:pic>
      <p:sp>
        <p:nvSpPr>
          <p:cNvPr id="6" name="Text 3"/>
          <p:cNvSpPr txBox="1"/>
          <p:nvPr/>
        </p:nvSpPr>
        <p:spPr>
          <a:xfrm>
            <a:off x="362585" y="6473952"/>
            <a:ext cx="6400800" cy="274320"/>
          </a:xfrm>
          <a:prstGeom prst="rect">
            <a:avLst/>
          </a:prstGeom>
          <a:noFill/>
        </p:spPr>
        <p:txBody>
          <a:bodyPr wrap="square" lIns="0" tIns="0" rIns="0" bIns="0" rtlCol="0" anchor="ctr"/>
          <a:lstStyle/>
          <a:p>
            <a:pPr marL="0" indent="0">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Airline Management System</a:t>
            </a:r>
            <a:endParaRPr lang="en-US" sz="900" dirty="0"/>
          </a:p>
        </p:txBody>
      </p:sp>
      <p:sp>
        <p:nvSpPr>
          <p:cNvPr id="7" name="Text 4"/>
          <p:cNvSpPr txBox="1"/>
          <p:nvPr/>
        </p:nvSpPr>
        <p:spPr>
          <a:xfrm>
            <a:off x="11183112" y="6473952"/>
            <a:ext cx="457200" cy="274320"/>
          </a:xfrm>
          <a:prstGeom prst="rect">
            <a:avLst/>
          </a:prstGeom>
          <a:noFill/>
        </p:spPr>
        <p:txBody>
          <a:bodyPr wrap="square" lIns="0" tIns="0" rIns="0" bIns="0" rtlCol="0" anchor="ctr"/>
          <a:lstStyle/>
          <a:p>
            <a:pPr marL="0" indent="0" algn="r">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12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p:spPr>
        <p:txBody>
          <a:bodyPr wrap="square" lIns="0" tIns="0" rIns="0" bIns="0" rtlCol="0" anchor="ctr"/>
          <a:lstStyle/>
          <a:p>
            <a:pPr marL="0" indent="0">
              <a:buNone/>
            </a:pPr>
            <a:endParaRPr lang="en-US" sz="1200" dirty="0"/>
          </a:p>
        </p:txBody>
      </p:sp>
      <p:sp>
        <p:nvSpPr>
          <p:cNvPr id="3" name="Text 1"/>
          <p:cNvSpPr txBox="1"/>
          <p:nvPr/>
        </p:nvSpPr>
        <p:spPr>
          <a:xfrm>
            <a:off x="548640" y="566928"/>
            <a:ext cx="11091672" cy="640080"/>
          </a:xfrm>
          <a:prstGeom prst="rect">
            <a:avLst/>
          </a:prstGeom>
          <a:noFill/>
        </p:spPr>
        <p:txBody>
          <a:bodyPr wrap="square" lIns="0" tIns="0" rIns="0" bIns="0" rtlCol="0" anchor="ctr"/>
          <a:lstStyle/>
          <a:p>
            <a:pPr marL="0" indent="0">
              <a:buNone/>
            </a:pPr>
            <a:r>
              <a:rPr lang="en-US" sz="3000" b="1" dirty="0">
                <a:solidFill>
                  <a:srgbClr val="1F3864"/>
                </a:solidFill>
                <a:latin typeface="Calibri" panose="020F0502020204030204" pitchFamily="34" charset="0"/>
                <a:ea typeface="Calibri" panose="020F0502020204030204" pitchFamily="34" charset="-122"/>
                <a:cs typeface="Calibri" panose="020F0502020204030204" pitchFamily="34" charset="-120"/>
              </a:rPr>
              <a:t>CLASS DIAGRAM</a:t>
            </a:r>
            <a:endParaRPr lang="en-US" sz="3000" dirty="0"/>
          </a:p>
        </p:txBody>
      </p:sp>
      <p:sp>
        <p:nvSpPr>
          <p:cNvPr id="4" name="Shape 2"/>
          <p:cNvSpPr/>
          <p:nvPr/>
        </p:nvSpPr>
        <p:spPr>
          <a:xfrm>
            <a:off x="548640" y="1170432"/>
            <a:ext cx="11091672" cy="0"/>
          </a:xfrm>
          <a:prstGeom prst="line">
            <a:avLst/>
          </a:prstGeom>
          <a:noFill/>
          <a:ln w="12700">
            <a:solidFill>
              <a:srgbClr val="D9D9D9"/>
            </a:solidFill>
            <a:prstDash val="solid"/>
          </a:ln>
        </p:spPr>
      </p:sp>
      <p:sp>
        <p:nvSpPr>
          <p:cNvPr id="6" name="Text 3"/>
          <p:cNvSpPr txBox="1"/>
          <p:nvPr/>
        </p:nvSpPr>
        <p:spPr>
          <a:xfrm>
            <a:off x="548640" y="6035040"/>
            <a:ext cx="11091672" cy="274320"/>
          </a:xfrm>
          <a:prstGeom prst="rect">
            <a:avLst/>
          </a:prstGeom>
          <a:noFill/>
        </p:spPr>
        <p:txBody>
          <a:bodyPr wrap="square" lIns="0" tIns="0" rIns="0" bIns="0" rtlCol="0" anchor="ctr"/>
          <a:lstStyle/>
          <a:p>
            <a:pPr marL="0" indent="0" algn="ctr">
              <a:buNone/>
            </a:pPr>
            <a:endParaRPr lang="en-US" sz="1000" dirty="0"/>
          </a:p>
        </p:txBody>
      </p:sp>
      <p:sp>
        <p:nvSpPr>
          <p:cNvPr id="7" name="Text 4"/>
          <p:cNvSpPr txBox="1"/>
          <p:nvPr/>
        </p:nvSpPr>
        <p:spPr>
          <a:xfrm>
            <a:off x="548640" y="6473952"/>
            <a:ext cx="6400800" cy="274320"/>
          </a:xfrm>
          <a:prstGeom prst="rect">
            <a:avLst/>
          </a:prstGeom>
          <a:noFill/>
        </p:spPr>
        <p:txBody>
          <a:bodyPr wrap="square" lIns="0" tIns="0" rIns="0" bIns="0" rtlCol="0" anchor="ctr"/>
          <a:lstStyle/>
          <a:p>
            <a:pPr marL="0" indent="0">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Airline Management System</a:t>
            </a:r>
            <a:endParaRPr lang="en-US" sz="900" dirty="0"/>
          </a:p>
        </p:txBody>
      </p:sp>
      <p:sp>
        <p:nvSpPr>
          <p:cNvPr id="8" name="Text 5"/>
          <p:cNvSpPr txBox="1"/>
          <p:nvPr/>
        </p:nvSpPr>
        <p:spPr>
          <a:xfrm>
            <a:off x="11183112" y="6473952"/>
            <a:ext cx="457200" cy="274320"/>
          </a:xfrm>
          <a:prstGeom prst="rect">
            <a:avLst/>
          </a:prstGeom>
          <a:noFill/>
        </p:spPr>
        <p:txBody>
          <a:bodyPr wrap="square" lIns="0" tIns="0" rIns="0" bIns="0" rtlCol="0" anchor="ctr"/>
          <a:lstStyle/>
          <a:p>
            <a:pPr marL="0" indent="0" algn="r">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13</a:t>
            </a:r>
            <a:endParaRPr lang="en-US" sz="900" dirty="0"/>
          </a:p>
        </p:txBody>
      </p:sp>
      <p:pic>
        <p:nvPicPr>
          <p:cNvPr id="5" name="Picture 4" descr="class riya"/>
          <p:cNvPicPr>
            <a:picLocks noChangeAspect="1"/>
          </p:cNvPicPr>
          <p:nvPr/>
        </p:nvPicPr>
        <p:blipFill>
          <a:blip r:embed="rId1"/>
          <a:stretch>
            <a:fillRect/>
          </a:stretch>
        </p:blipFill>
        <p:spPr>
          <a:xfrm>
            <a:off x="572770" y="1397000"/>
            <a:ext cx="10982960" cy="485457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p:spPr>
        <p:txBody>
          <a:bodyPr wrap="square" lIns="0" tIns="0" rIns="0" bIns="0" rtlCol="0" anchor="ctr"/>
          <a:lstStyle/>
          <a:p>
            <a:pPr marL="0" indent="0">
              <a:buNone/>
            </a:pPr>
            <a:endParaRPr lang="en-US" sz="1200" dirty="0"/>
          </a:p>
        </p:txBody>
      </p:sp>
      <p:sp>
        <p:nvSpPr>
          <p:cNvPr id="3" name="Text 1"/>
          <p:cNvSpPr txBox="1"/>
          <p:nvPr/>
        </p:nvSpPr>
        <p:spPr>
          <a:xfrm>
            <a:off x="548640" y="319913"/>
            <a:ext cx="11091672" cy="640080"/>
          </a:xfrm>
          <a:prstGeom prst="rect">
            <a:avLst/>
          </a:prstGeom>
          <a:noFill/>
        </p:spPr>
        <p:txBody>
          <a:bodyPr wrap="square" lIns="0" tIns="0" rIns="0" bIns="0" rtlCol="0" anchor="ctr"/>
          <a:lstStyle/>
          <a:p>
            <a:pPr marL="0" indent="0">
              <a:buNone/>
            </a:pPr>
            <a:r>
              <a:rPr lang="en-US" sz="3000" b="1" dirty="0">
                <a:solidFill>
                  <a:srgbClr val="1F3864"/>
                </a:solidFill>
                <a:latin typeface="Calibri" panose="020F0502020204030204" pitchFamily="34" charset="0"/>
                <a:ea typeface="Calibri" panose="020F0502020204030204" pitchFamily="34" charset="-122"/>
                <a:cs typeface="Calibri" panose="020F0502020204030204" pitchFamily="34" charset="-120"/>
              </a:rPr>
              <a:t>SEQUENCE DIAGRAM</a:t>
            </a:r>
            <a:endParaRPr lang="en-US" sz="3000" dirty="0"/>
          </a:p>
        </p:txBody>
      </p:sp>
      <p:sp>
        <p:nvSpPr>
          <p:cNvPr id="4" name="Shape 2"/>
          <p:cNvSpPr/>
          <p:nvPr/>
        </p:nvSpPr>
        <p:spPr>
          <a:xfrm>
            <a:off x="548640" y="970407"/>
            <a:ext cx="11091672" cy="0"/>
          </a:xfrm>
          <a:prstGeom prst="line">
            <a:avLst/>
          </a:prstGeom>
          <a:noFill/>
          <a:ln w="12700">
            <a:solidFill>
              <a:srgbClr val="D9D9D9"/>
            </a:solidFill>
            <a:prstDash val="solid"/>
          </a:ln>
        </p:spPr>
      </p:sp>
      <p:pic>
        <p:nvPicPr>
          <p:cNvPr id="5" name="Image 0" descr="seq.png"/>
          <p:cNvPicPr>
            <a:picLocks noChangeAspect="1"/>
          </p:cNvPicPr>
          <p:nvPr/>
        </p:nvPicPr>
        <p:blipFill>
          <a:blip r:embed="rId1"/>
          <a:srcRect t="5568"/>
          <a:stretch>
            <a:fillRect/>
          </a:stretch>
        </p:blipFill>
        <p:spPr>
          <a:xfrm>
            <a:off x="839470" y="1029335"/>
            <a:ext cx="10316210" cy="5604510"/>
          </a:xfrm>
          <a:prstGeom prst="rect">
            <a:avLst/>
          </a:prstGeom>
        </p:spPr>
      </p:pic>
      <p:sp>
        <p:nvSpPr>
          <p:cNvPr id="6" name="Text 3"/>
          <p:cNvSpPr txBox="1"/>
          <p:nvPr/>
        </p:nvSpPr>
        <p:spPr>
          <a:xfrm>
            <a:off x="548640" y="6035040"/>
            <a:ext cx="11091672" cy="274320"/>
          </a:xfrm>
          <a:prstGeom prst="rect">
            <a:avLst/>
          </a:prstGeom>
          <a:noFill/>
        </p:spPr>
        <p:txBody>
          <a:bodyPr wrap="square" lIns="0" tIns="0" rIns="0" bIns="0" rtlCol="0" anchor="ctr"/>
          <a:lstStyle/>
          <a:p>
            <a:pPr marL="0" indent="0" algn="ctr">
              <a:buNone/>
            </a:pPr>
            <a:r>
              <a:rPr lang="en-US" sz="1000" i="1" dirty="0">
                <a:solidFill>
                  <a:srgbClr val="595959"/>
                </a:solidFill>
                <a:latin typeface="Calibri" panose="020F0502020204030204" pitchFamily="34" charset="0"/>
                <a:ea typeface="Calibri" panose="020F0502020204030204" pitchFamily="34" charset="-122"/>
                <a:cs typeface="Calibri" panose="020F0502020204030204" pitchFamily="34" charset="-120"/>
              </a:rPr>
              <a:t>s.</a:t>
            </a:r>
            <a:endParaRPr lang="en-US" sz="1000" dirty="0"/>
          </a:p>
        </p:txBody>
      </p:sp>
      <p:sp>
        <p:nvSpPr>
          <p:cNvPr id="7" name="Text 4"/>
          <p:cNvSpPr txBox="1"/>
          <p:nvPr/>
        </p:nvSpPr>
        <p:spPr>
          <a:xfrm>
            <a:off x="548640" y="6473952"/>
            <a:ext cx="6400800" cy="274320"/>
          </a:xfrm>
          <a:prstGeom prst="rect">
            <a:avLst/>
          </a:prstGeom>
          <a:noFill/>
        </p:spPr>
        <p:txBody>
          <a:bodyPr wrap="square" lIns="0" tIns="0" rIns="0" bIns="0" rtlCol="0" anchor="ctr"/>
          <a:lstStyle/>
          <a:p>
            <a:pPr marL="0" indent="0">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Airline Management System</a:t>
            </a:r>
            <a:endParaRPr lang="en-US" sz="900" dirty="0"/>
          </a:p>
        </p:txBody>
      </p:sp>
      <p:sp>
        <p:nvSpPr>
          <p:cNvPr id="8" name="Text 5"/>
          <p:cNvSpPr txBox="1"/>
          <p:nvPr/>
        </p:nvSpPr>
        <p:spPr>
          <a:xfrm>
            <a:off x="11183112" y="6473952"/>
            <a:ext cx="457200" cy="274320"/>
          </a:xfrm>
          <a:prstGeom prst="rect">
            <a:avLst/>
          </a:prstGeom>
          <a:noFill/>
        </p:spPr>
        <p:txBody>
          <a:bodyPr wrap="square" lIns="0" tIns="0" rIns="0" bIns="0" rtlCol="0" anchor="ctr"/>
          <a:lstStyle/>
          <a:p>
            <a:pPr marL="0" indent="0" algn="r">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14</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p:spPr>
        <p:txBody>
          <a:bodyPr wrap="square" lIns="0" tIns="0" rIns="0" bIns="0" rtlCol="0" anchor="ctr"/>
          <a:lstStyle/>
          <a:p>
            <a:pPr marL="0" indent="0">
              <a:buNone/>
            </a:pPr>
            <a:endParaRPr lang="en-US" sz="1200" dirty="0"/>
          </a:p>
        </p:txBody>
      </p:sp>
      <p:sp>
        <p:nvSpPr>
          <p:cNvPr id="3" name="Text 1"/>
          <p:cNvSpPr txBox="1"/>
          <p:nvPr/>
        </p:nvSpPr>
        <p:spPr>
          <a:xfrm>
            <a:off x="452755" y="220853"/>
            <a:ext cx="11091672" cy="640080"/>
          </a:xfrm>
          <a:prstGeom prst="rect">
            <a:avLst/>
          </a:prstGeom>
          <a:noFill/>
        </p:spPr>
        <p:txBody>
          <a:bodyPr wrap="square" lIns="0" tIns="0" rIns="0" bIns="0" rtlCol="0" anchor="ctr"/>
          <a:lstStyle/>
          <a:p>
            <a:pPr marL="0" indent="0">
              <a:buNone/>
            </a:pPr>
            <a:r>
              <a:rPr lang="en-US" sz="3000" b="1" dirty="0">
                <a:solidFill>
                  <a:srgbClr val="1F3864"/>
                </a:solidFill>
                <a:latin typeface="Calibri" panose="020F0502020204030204" pitchFamily="34" charset="0"/>
                <a:ea typeface="Calibri" panose="020F0502020204030204" pitchFamily="34" charset="-122"/>
                <a:cs typeface="Calibri" panose="020F0502020204030204" pitchFamily="34" charset="-120"/>
              </a:rPr>
              <a:t>ACTIVITY DIAGRAM</a:t>
            </a:r>
            <a:endParaRPr lang="en-US" sz="3000" dirty="0"/>
          </a:p>
        </p:txBody>
      </p:sp>
      <p:sp>
        <p:nvSpPr>
          <p:cNvPr id="4" name="Shape 2"/>
          <p:cNvSpPr/>
          <p:nvPr/>
        </p:nvSpPr>
        <p:spPr>
          <a:xfrm>
            <a:off x="452755" y="882777"/>
            <a:ext cx="11091672" cy="0"/>
          </a:xfrm>
          <a:prstGeom prst="line">
            <a:avLst/>
          </a:prstGeom>
          <a:noFill/>
          <a:ln w="12700">
            <a:solidFill>
              <a:srgbClr val="D9D9D9"/>
            </a:solidFill>
            <a:prstDash val="solid"/>
          </a:ln>
        </p:spPr>
      </p:sp>
      <p:sp>
        <p:nvSpPr>
          <p:cNvPr id="10" name="Text 8"/>
          <p:cNvSpPr txBox="1"/>
          <p:nvPr/>
        </p:nvSpPr>
        <p:spPr>
          <a:xfrm>
            <a:off x="4059936" y="2651760"/>
            <a:ext cx="228600" cy="777240"/>
          </a:xfrm>
          <a:prstGeom prst="rect">
            <a:avLst/>
          </a:prstGeom>
          <a:noFill/>
        </p:spPr>
        <p:txBody>
          <a:bodyPr wrap="square" lIns="0" tIns="0" rIns="0" bIns="0" rtlCol="0" anchor="ctr"/>
          <a:lstStyle/>
          <a:p>
            <a:pPr marL="0" indent="0" algn="ctr">
              <a:buNone/>
            </a:pPr>
            <a:endParaRPr lang="en-US" sz="1600" dirty="0"/>
          </a:p>
        </p:txBody>
      </p:sp>
      <p:sp>
        <p:nvSpPr>
          <p:cNvPr id="22" name="Text 20"/>
          <p:cNvSpPr txBox="1"/>
          <p:nvPr/>
        </p:nvSpPr>
        <p:spPr>
          <a:xfrm>
            <a:off x="548640" y="3977640"/>
            <a:ext cx="11091672" cy="457200"/>
          </a:xfrm>
          <a:prstGeom prst="rect">
            <a:avLst/>
          </a:prstGeom>
          <a:noFill/>
        </p:spPr>
        <p:txBody>
          <a:bodyPr wrap="square" lIns="0" tIns="0" rIns="0" bIns="0" rtlCol="0" anchor="ctr"/>
          <a:lstStyle/>
          <a:p>
            <a:pPr marL="0" indent="0" algn="ctr">
              <a:buNone/>
            </a:pPr>
            <a:endParaRPr lang="en-US" sz="1200" dirty="0"/>
          </a:p>
        </p:txBody>
      </p:sp>
      <p:sp>
        <p:nvSpPr>
          <p:cNvPr id="23" name="Text 21"/>
          <p:cNvSpPr txBox="1"/>
          <p:nvPr/>
        </p:nvSpPr>
        <p:spPr>
          <a:xfrm>
            <a:off x="548640" y="6473952"/>
            <a:ext cx="6400800" cy="274320"/>
          </a:xfrm>
          <a:prstGeom prst="rect">
            <a:avLst/>
          </a:prstGeom>
          <a:noFill/>
        </p:spPr>
        <p:txBody>
          <a:bodyPr wrap="square" lIns="0" tIns="0" rIns="0" bIns="0" rtlCol="0" anchor="ctr"/>
          <a:lstStyle/>
          <a:p>
            <a:pPr marL="0" indent="0">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Airline Management System</a:t>
            </a:r>
            <a:endParaRPr lang="en-US" sz="900" dirty="0"/>
          </a:p>
        </p:txBody>
      </p:sp>
      <p:sp>
        <p:nvSpPr>
          <p:cNvPr id="24" name="Text 22"/>
          <p:cNvSpPr txBox="1"/>
          <p:nvPr/>
        </p:nvSpPr>
        <p:spPr>
          <a:xfrm>
            <a:off x="11183112" y="6473952"/>
            <a:ext cx="457200" cy="274320"/>
          </a:xfrm>
          <a:prstGeom prst="rect">
            <a:avLst/>
          </a:prstGeom>
          <a:noFill/>
        </p:spPr>
        <p:txBody>
          <a:bodyPr wrap="square" lIns="0" tIns="0" rIns="0" bIns="0" rtlCol="0" anchor="ctr"/>
          <a:lstStyle/>
          <a:p>
            <a:pPr marL="0" indent="0" algn="r">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15</a:t>
            </a:r>
            <a:endParaRPr lang="en-US" sz="900" dirty="0"/>
          </a:p>
        </p:txBody>
      </p:sp>
      <p:pic>
        <p:nvPicPr>
          <p:cNvPr id="8" name="Picture 7" descr="acccff"/>
          <p:cNvPicPr>
            <a:picLocks noChangeAspect="1"/>
          </p:cNvPicPr>
          <p:nvPr/>
        </p:nvPicPr>
        <p:blipFill>
          <a:blip r:embed="rId1"/>
          <a:srcRect t="2308"/>
          <a:stretch>
            <a:fillRect/>
          </a:stretch>
        </p:blipFill>
        <p:spPr>
          <a:xfrm>
            <a:off x="1493520" y="904240"/>
            <a:ext cx="8861425" cy="564896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p:spPr>
        <p:txBody>
          <a:bodyPr wrap="square" lIns="0" tIns="0" rIns="0" bIns="0" rtlCol="0" anchor="ctr"/>
          <a:lstStyle/>
          <a:p>
            <a:pPr marL="0" indent="0">
              <a:buNone/>
            </a:pPr>
            <a:endParaRPr lang="en-US" sz="1200" dirty="0"/>
          </a:p>
        </p:txBody>
      </p:sp>
      <p:sp>
        <p:nvSpPr>
          <p:cNvPr id="3" name="Text 1"/>
          <p:cNvSpPr txBox="1"/>
          <p:nvPr/>
        </p:nvSpPr>
        <p:spPr>
          <a:xfrm>
            <a:off x="548640" y="566928"/>
            <a:ext cx="11091672" cy="640080"/>
          </a:xfrm>
          <a:prstGeom prst="rect">
            <a:avLst/>
          </a:prstGeom>
          <a:noFill/>
        </p:spPr>
        <p:txBody>
          <a:bodyPr wrap="square" lIns="0" tIns="0" rIns="0" bIns="0" rtlCol="0" anchor="ctr"/>
          <a:lstStyle/>
          <a:p>
            <a:pPr marL="0" indent="0">
              <a:buNone/>
            </a:pPr>
            <a:r>
              <a:rPr lang="en-US" sz="3000" b="1" dirty="0">
                <a:solidFill>
                  <a:srgbClr val="1F3864"/>
                </a:solidFill>
                <a:latin typeface="Calibri" panose="020F0502020204030204" pitchFamily="34" charset="0"/>
                <a:ea typeface="Calibri" panose="020F0502020204030204" pitchFamily="34" charset="-122"/>
                <a:cs typeface="Calibri" panose="020F0502020204030204" pitchFamily="34" charset="-120"/>
              </a:rPr>
              <a:t>CONCLUSION</a:t>
            </a:r>
            <a:endParaRPr lang="en-US" sz="3000" dirty="0"/>
          </a:p>
        </p:txBody>
      </p:sp>
      <p:sp>
        <p:nvSpPr>
          <p:cNvPr id="4" name="Shape 2"/>
          <p:cNvSpPr/>
          <p:nvPr/>
        </p:nvSpPr>
        <p:spPr>
          <a:xfrm>
            <a:off x="548640" y="1170432"/>
            <a:ext cx="11091672" cy="0"/>
          </a:xfrm>
          <a:prstGeom prst="line">
            <a:avLst/>
          </a:prstGeom>
          <a:noFill/>
          <a:ln w="12700">
            <a:solidFill>
              <a:srgbClr val="D9D9D9"/>
            </a:solidFill>
            <a:prstDash val="solid"/>
          </a:ln>
        </p:spPr>
      </p:sp>
      <p:sp>
        <p:nvSpPr>
          <p:cNvPr id="5" name="Text 3"/>
          <p:cNvSpPr txBox="1"/>
          <p:nvPr/>
        </p:nvSpPr>
        <p:spPr>
          <a:xfrm>
            <a:off x="548640" y="1417320"/>
            <a:ext cx="11091672" cy="4892040"/>
          </a:xfrm>
          <a:prstGeom prst="rect">
            <a:avLst/>
          </a:prstGeom>
          <a:noFill/>
        </p:spPr>
        <p:txBody>
          <a:bodyPr wrap="square" lIns="0" tIns="0" rIns="0" bIns="0" rtlCol="0" anchor="t"/>
          <a:lstStyle/>
          <a:p>
            <a:pPr marL="342900" indent="-342900">
              <a:lnSpc>
                <a:spcPct val="115000"/>
              </a:lnSpc>
              <a:spcAft>
                <a:spcPts val="800"/>
              </a:spcAft>
              <a:buSzPct val="100000"/>
              <a:buChar char="•"/>
            </a:pPr>
            <a:r>
              <a:rPr 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The Airline Management System automates flight scheduling, passenger booking and staff management in a single centralized platform.</a:t>
            </a:r>
            <a:endParaRPr lang="en-US" sz="1600" dirty="0"/>
          </a:p>
          <a:p>
            <a:pPr marL="342900" indent="-342900">
              <a:lnSpc>
                <a:spcPct val="115000"/>
              </a:lnSpc>
              <a:spcAft>
                <a:spcPts val="800"/>
              </a:spcAft>
              <a:buSzPct val="100000"/>
              <a:buChar char="•"/>
            </a:pPr>
            <a:r>
              <a:rPr 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Applying OOP concepts — classes, inheritance, encapsulation and abstraction — results in a modular and maintainable system.</a:t>
            </a:r>
            <a:endParaRPr lang="en-US" sz="1600" dirty="0"/>
          </a:p>
          <a:p>
            <a:pPr marL="342900" indent="-342900">
              <a:lnSpc>
                <a:spcPct val="115000"/>
              </a:lnSpc>
              <a:spcAft>
                <a:spcPts val="800"/>
              </a:spcAft>
              <a:buSzPct val="100000"/>
              <a:buChar char="•"/>
            </a:pPr>
            <a:r>
              <a:rPr 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The system reduces manual effort, minimizes booking and scheduling errors, and gives administrators real-time control over flight operations.</a:t>
            </a:r>
            <a:endParaRPr lang="en-US" sz="1600" dirty="0"/>
          </a:p>
          <a:p>
            <a:pPr marL="342900" indent="-342900">
              <a:lnSpc>
                <a:spcPct val="115000"/>
              </a:lnSpc>
              <a:spcAft>
                <a:spcPts val="800"/>
              </a:spcAft>
              <a:buSzPct val="100000"/>
              <a:buChar char="•"/>
            </a:pPr>
            <a:r>
              <a:rPr 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Designed with scalability and cloud deployment in mind for future growth.</a:t>
            </a:r>
            <a:endParaRPr lang="en-US" sz="1600" dirty="0"/>
          </a:p>
        </p:txBody>
      </p:sp>
      <p:sp>
        <p:nvSpPr>
          <p:cNvPr id="6" name="Text 4"/>
          <p:cNvSpPr txBox="1"/>
          <p:nvPr/>
        </p:nvSpPr>
        <p:spPr>
          <a:xfrm>
            <a:off x="548640" y="6473952"/>
            <a:ext cx="6400800" cy="274320"/>
          </a:xfrm>
          <a:prstGeom prst="rect">
            <a:avLst/>
          </a:prstGeom>
          <a:noFill/>
        </p:spPr>
        <p:txBody>
          <a:bodyPr wrap="square" lIns="0" tIns="0" rIns="0" bIns="0" rtlCol="0" anchor="ctr"/>
          <a:lstStyle/>
          <a:p>
            <a:pPr marL="0" indent="0">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Airline Management System</a:t>
            </a:r>
            <a:endParaRPr lang="en-US" sz="900" dirty="0"/>
          </a:p>
        </p:txBody>
      </p:sp>
      <p:sp>
        <p:nvSpPr>
          <p:cNvPr id="7" name="Text 5"/>
          <p:cNvSpPr txBox="1"/>
          <p:nvPr/>
        </p:nvSpPr>
        <p:spPr>
          <a:xfrm>
            <a:off x="11183112" y="6473952"/>
            <a:ext cx="457200" cy="274320"/>
          </a:xfrm>
          <a:prstGeom prst="rect">
            <a:avLst/>
          </a:prstGeom>
          <a:noFill/>
        </p:spPr>
        <p:txBody>
          <a:bodyPr wrap="square" lIns="0" tIns="0" rIns="0" bIns="0" rtlCol="0" anchor="ctr"/>
          <a:lstStyle/>
          <a:p>
            <a:pPr marL="0" indent="0" algn="r">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16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640080"/>
          </a:xfrm>
          <a:prstGeom prst="rect">
            <a:avLst/>
          </a:prstGeom>
          <a:noFill/>
        </p:spPr>
        <p:txBody>
          <a:bodyPr wrap="square" lIns="0" tIns="0" rIns="0" bIns="0" rtlCol="0" anchor="ctr"/>
          <a:lstStyle/>
          <a:p>
            <a:pPr marL="0" indent="0">
              <a:buNone/>
            </a:pPr>
            <a:r>
              <a:rPr lang="en-US" sz="3000" b="1" dirty="0">
                <a:solidFill>
                  <a:srgbClr val="1F3864"/>
                </a:solidFill>
                <a:latin typeface="Calibri" panose="020F0502020204030204" pitchFamily="34" charset="0"/>
                <a:ea typeface="Calibri" panose="020F0502020204030204" pitchFamily="34" charset="-122"/>
                <a:cs typeface="Calibri" panose="020F0502020204030204" pitchFamily="34" charset="-120"/>
              </a:rPr>
              <a:t>REFERENCE</a:t>
            </a:r>
            <a:endParaRPr lang="en-US" sz="3000" dirty="0"/>
          </a:p>
        </p:txBody>
      </p:sp>
      <p:sp>
        <p:nvSpPr>
          <p:cNvPr id="3" name="Shape 1"/>
          <p:cNvSpPr/>
          <p:nvPr/>
        </p:nvSpPr>
        <p:spPr>
          <a:xfrm>
            <a:off x="548640" y="1170432"/>
            <a:ext cx="11091672" cy="0"/>
          </a:xfrm>
          <a:prstGeom prst="line">
            <a:avLst/>
          </a:prstGeom>
          <a:noFill/>
          <a:ln w="12700">
            <a:solidFill>
              <a:srgbClr val="D9D9D9"/>
            </a:solidFill>
            <a:prstDash val="solid"/>
          </a:ln>
        </p:spPr>
      </p:sp>
      <p:sp>
        <p:nvSpPr>
          <p:cNvPr id="4" name="Text 2"/>
          <p:cNvSpPr txBox="1"/>
          <p:nvPr/>
        </p:nvSpPr>
        <p:spPr>
          <a:xfrm>
            <a:off x="548640" y="1417320"/>
            <a:ext cx="11091672" cy="4892040"/>
          </a:xfrm>
          <a:prstGeom prst="rect">
            <a:avLst/>
          </a:prstGeom>
          <a:noFill/>
        </p:spPr>
        <p:txBody>
          <a:bodyPr wrap="square" lIns="0" tIns="0" rIns="0" bIns="0" rtlCol="0" anchor="t"/>
          <a:lstStyle/>
          <a:p>
            <a:pPr marL="342900" indent="-342900">
              <a:lnSpc>
                <a:spcPct val="115000"/>
              </a:lnSpc>
              <a:spcAft>
                <a:spcPts val="800"/>
              </a:spcAft>
              <a:buSzPct val="100000"/>
              <a:buChar char="•"/>
            </a:pPr>
            <a:r>
              <a:rPr 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PHP Documentation</a:t>
            </a:r>
            <a:endParaRPr lang="en-US" sz="1600" dirty="0"/>
          </a:p>
          <a:p>
            <a:pPr marL="342900" indent="-342900">
              <a:lnSpc>
                <a:spcPct val="115000"/>
              </a:lnSpc>
              <a:spcAft>
                <a:spcPts val="800"/>
              </a:spcAft>
              <a:buSzPct val="100000"/>
              <a:buChar char="•"/>
            </a:pPr>
            <a:r>
              <a:rPr 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MySQL Documentation</a:t>
            </a:r>
            <a:endParaRPr lang="en-US" sz="1600" dirty="0"/>
          </a:p>
          <a:p>
            <a:pPr marL="342900" indent="-342900">
              <a:lnSpc>
                <a:spcPct val="115000"/>
              </a:lnSpc>
              <a:spcAft>
                <a:spcPts val="800"/>
              </a:spcAft>
              <a:buSzPct val="100000"/>
              <a:buChar char="•"/>
            </a:pPr>
            <a:r>
              <a:rPr 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HTML5 Documentation</a:t>
            </a:r>
            <a:endParaRPr lang="en-US" sz="1600" dirty="0"/>
          </a:p>
          <a:p>
            <a:pPr marL="342900" indent="-342900">
              <a:lnSpc>
                <a:spcPct val="115000"/>
              </a:lnSpc>
              <a:spcAft>
                <a:spcPts val="800"/>
              </a:spcAft>
              <a:buSzPct val="100000"/>
              <a:buChar char="•"/>
            </a:pPr>
            <a:r>
              <a:rPr 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CSS3 Documentation</a:t>
            </a:r>
            <a:endParaRPr lang="en-US" sz="1600" dirty="0"/>
          </a:p>
          <a:p>
            <a:pPr marL="342900" indent="-342900">
              <a:lnSpc>
                <a:spcPct val="115000"/>
              </a:lnSpc>
              <a:spcAft>
                <a:spcPts val="800"/>
              </a:spcAft>
              <a:buSzPct val="100000"/>
              <a:buChar char="•"/>
            </a:pPr>
            <a:r>
              <a:rPr 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Object-Oriented Programming concepts</a:t>
            </a:r>
            <a:endParaRPr lang="en-US" sz="1600" dirty="0"/>
          </a:p>
          <a:p>
            <a:pPr marL="342900" indent="-342900">
              <a:lnSpc>
                <a:spcPct val="115000"/>
              </a:lnSpc>
              <a:spcAft>
                <a:spcPts val="800"/>
              </a:spcAft>
              <a:buSzPct val="100000"/>
              <a:buChar char="•"/>
            </a:pPr>
            <a:r>
              <a:rPr lang="en-US" sz="1600" dirty="0">
                <a:solidFill>
                  <a:srgbClr val="262626"/>
                </a:solidFill>
                <a:latin typeface="Calibri" panose="020F0502020204030204" pitchFamily="34" charset="0"/>
                <a:ea typeface="Calibri" panose="020F0502020204030204" pitchFamily="34" charset="-122"/>
                <a:cs typeface="Calibri" panose="020F0502020204030204" pitchFamily="34" charset="-120"/>
              </a:rPr>
              <a:t>Software Requirements Specification (SRS) guidelines</a:t>
            </a:r>
            <a:endParaRPr lang="en-US" sz="1600" dirty="0"/>
          </a:p>
        </p:txBody>
      </p:sp>
      <p:sp>
        <p:nvSpPr>
          <p:cNvPr id="5" name="Text 3"/>
          <p:cNvSpPr txBox="1"/>
          <p:nvPr/>
        </p:nvSpPr>
        <p:spPr>
          <a:xfrm>
            <a:off x="548640" y="6473952"/>
            <a:ext cx="6400800" cy="274320"/>
          </a:xfrm>
          <a:prstGeom prst="rect">
            <a:avLst/>
          </a:prstGeom>
          <a:noFill/>
        </p:spPr>
        <p:txBody>
          <a:bodyPr wrap="square" lIns="0" tIns="0" rIns="0" bIns="0" rtlCol="0" anchor="ctr"/>
          <a:lstStyle/>
          <a:p>
            <a:pPr marL="0" indent="0">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Airline Management System </a:t>
            </a:r>
            <a:endParaRPr lang="en-US" sz="900" dirty="0"/>
          </a:p>
        </p:txBody>
      </p:sp>
      <p:sp>
        <p:nvSpPr>
          <p:cNvPr id="6" name="Text 4"/>
          <p:cNvSpPr txBox="1"/>
          <p:nvPr/>
        </p:nvSpPr>
        <p:spPr>
          <a:xfrm>
            <a:off x="11183112" y="6473952"/>
            <a:ext cx="457200" cy="274320"/>
          </a:xfrm>
          <a:prstGeom prst="rect">
            <a:avLst/>
          </a:prstGeom>
          <a:noFill/>
        </p:spPr>
        <p:txBody>
          <a:bodyPr wrap="square" lIns="0" tIns="0" rIns="0" bIns="0" rtlCol="0" anchor="ctr"/>
          <a:lstStyle/>
          <a:p>
            <a:pPr marL="0" indent="0" algn="r">
              <a:buNone/>
            </a:pPr>
            <a:r>
              <a:rPr lang="en-US" sz="900" dirty="0">
                <a:solidFill>
                  <a:srgbClr val="595959"/>
                </a:solidFill>
                <a:latin typeface="Calibri" panose="020F0502020204030204" pitchFamily="34" charset="0"/>
                <a:ea typeface="Calibri" panose="020F0502020204030204" pitchFamily="34" charset="-122"/>
                <a:cs typeface="Calibri" panose="020F0502020204030204" pitchFamily="34" charset="-120"/>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12352</Words>
  <Application>WPS Presentation</Application>
  <PresentationFormat>On-screen Show (16:9)</PresentationFormat>
  <Paragraphs>303</Paragraphs>
  <Slides>26</Slides>
  <Notes>17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26</vt:i4>
      </vt:variant>
    </vt:vector>
  </HeadingPairs>
  <TitlesOfParts>
    <vt:vector size="36" baseType="lpstr">
      <vt:lpstr>Arial</vt:lpstr>
      <vt:lpstr>SimSun</vt:lpstr>
      <vt:lpstr>Wingdings</vt:lpstr>
      <vt:lpstr>Calibri</vt:lpstr>
      <vt:lpstr>Calibri</vt:lpstr>
      <vt:lpstr>Calibri</vt:lpstr>
      <vt:lpstr>Microsoft YaHei</vt:lpstr>
      <vt:lpstr>Arial Unicode MS</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Rishika peethambaran</cp:lastModifiedBy>
  <cp:revision>14</cp:revision>
  <dcterms:created xsi:type="dcterms:W3CDTF">2026-09-26T17:14:00Z</dcterms:created>
  <dcterms:modified xsi:type="dcterms:W3CDTF">2026-09-28T05:24:31Z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01502829870444B5AD5B5EC8D5041A5E_12</vt:lpwstr>
  </property>
  <property fmtid="{D5CDD505-2E9C-101B-9397-08002B2CF9AE}" pid="3" name="KSOProductBuildVer">
    <vt:lpwstr>1033-12.1.0.28485</vt:lpwstr>
  </property>
</Properties>
</file>